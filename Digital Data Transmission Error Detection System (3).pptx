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4" r:id="rId1"/>
  </p:sldMasterIdLst>
  <p:notesMasterIdLst>
    <p:notesMasterId r:id="rId12"/>
  </p:notesMasterIdLst>
  <p:sldIdLst>
    <p:sldId id="256" r:id="rId2"/>
    <p:sldId id="266" r:id="rId3"/>
    <p:sldId id="257" r:id="rId4"/>
    <p:sldId id="258" r:id="rId5"/>
    <p:sldId id="259" r:id="rId6"/>
    <p:sldId id="260" r:id="rId7"/>
    <p:sldId id="267" r:id="rId8"/>
    <p:sldId id="270" r:id="rId9"/>
    <p:sldId id="261" r:id="rId10"/>
    <p:sldId id="269" r:id="rId11"/>
  </p:sldIdLst>
  <p:sldSz cx="12192000" cy="6858000"/>
  <p:notesSz cx="6858000" cy="9144000"/>
  <p:embeddedFontLst>
    <p:embeddedFont>
      <p:font typeface="Bell MT" panose="02020503060305020303" pitchFamily="18" charset="0"/>
      <p:regular r:id="rId13"/>
      <p:bold r:id="rId14"/>
      <p:italic r:id="rId15"/>
    </p:embeddedFont>
    <p:embeddedFont>
      <p:font typeface="Bodoni MT" panose="02070603080606020203" pitchFamily="18" charset="0"/>
      <p:regular r:id="rId16"/>
      <p:bold r:id="rId17"/>
      <p:italic r:id="rId18"/>
      <p:boldItalic r:id="rId19"/>
    </p:embeddedFont>
    <p:embeddedFont>
      <p:font typeface="Haettenschweiler" panose="020B0706040902060204" pitchFamily="34" charset="0"/>
      <p:regular r:id="rId20"/>
    </p:embeddedFont>
    <p:embeddedFont>
      <p:font typeface="Inter" panose="020B0604020202020204" charset="0"/>
      <p:regular r:id="rId21"/>
      <p:bold r:id="rId22"/>
      <p:italic r:id="rId23"/>
      <p:boldItalic r:id="rId24"/>
    </p:embeddedFont>
    <p:embeddedFont>
      <p:font typeface="Poppins" panose="00000500000000000000" pitchFamily="2" charset="0"/>
      <p:regular r:id="rId25"/>
      <p:bold r:id="rId26"/>
      <p:italic r:id="rId27"/>
      <p:boldItalic r:id="rId28"/>
    </p:embeddedFont>
    <p:embeddedFont>
      <p:font typeface="Poppins SemiBold" panose="00000700000000000000" pitchFamily="2" charset="0"/>
      <p:regular r:id="rId29"/>
      <p:bold r:id="rId30"/>
      <p:italic r:id="rId31"/>
      <p:boldItalic r:id="rId32"/>
    </p:embeddedFont>
    <p:embeddedFont>
      <p:font typeface="Trade Gothic Next Light" panose="020B0403040303020004" pitchFamily="34" charset="0"/>
      <p:regular r:id="rId33"/>
      <p: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32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59665A-2B18-4A9F-BB18-356628FB320A}" v="235" dt="2026-09-12T01:10:55.364"/>
  </p1510:revLst>
</p1510:revInfo>
</file>

<file path=ppt/tableStyles.xml><?xml version="1.0" encoding="utf-8"?>
<a:tblStyleLst xmlns:a="http://schemas.openxmlformats.org/drawingml/2006/main" def="{C0769C5F-83D8-4874-923A-31DF5A5A04A5}">
  <a:tblStyle styleId="{C0769C5F-83D8-4874-923A-31DF5A5A04A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9" Type="http://schemas.microsoft.com/office/2015/10/relationships/revisionInfo" Target="revisionInfo.xml"/><Relationship Id="rId21" Type="http://schemas.openxmlformats.org/officeDocument/2006/relationships/font" Target="fonts/font9.fntdata"/><Relationship Id="rId34" Type="http://schemas.openxmlformats.org/officeDocument/2006/relationships/font" Target="fonts/font22.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endParaRPr lang="en-IN"/>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6000230"/>
      </p:ext>
    </p:extLst>
  </p:cSld>
  <p:clrMapOvr>
    <a:masterClrMapping/>
  </p:clrMapOvr>
  <p:hf sldNum="0"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endParaRPr lang="en-IN"/>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endParaRPr lang="en-IN"/>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9707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endParaRPr lang="en-IN"/>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endParaRPr lang="en-IN"/>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936503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129963"/>
      </p:ext>
    </p:extLst>
  </p:cSld>
  <p:clrMapOvr>
    <a:masterClrMapping/>
  </p:clrMapOvr>
  <p:hf sldNum="0" hdr="0" ft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0605044"/>
      </p:ext>
    </p:extLst>
  </p:cSld>
  <p:clrMapOvr>
    <a:masterClrMapping/>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endParaRPr lang="en-IN"/>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258464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148823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endParaRPr lang="en-IN"/>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222456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endParaRPr lang="en-IN"/>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74637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44530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endParaRPr lang="en-IN"/>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endParaRPr lang="en-IN"/>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583853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endParaRPr lang="en-IN"/>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endParaRPr lang="en-IN"/>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088880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693996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687645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endParaRPr lang="en-IN"/>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endParaRPr lang="en-IN"/>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405860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815581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endParaRPr lang="en-IN"/>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endParaRPr lang="en-IN"/>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789526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986276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56618"/>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4812676"/>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814822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endParaRPr lang="en-IN"/>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endParaRPr lang="en-IN"/>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8121314"/>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en-IN"/>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endParaRPr lang="en-IN"/>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604813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endParaRPr lang="en-IN"/>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678071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endParaRPr lang="en-IN"/>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endParaRPr lang="en-IN"/>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5811180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966936"/>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500483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lang="en-IN"/>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lang="en-IN"/>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8" name="TextBox 7">
            <a:extLst>
              <a:ext uri="{FF2B5EF4-FFF2-40B4-BE49-F238E27FC236}">
                <a16:creationId xmlns:a16="http://schemas.microsoft.com/office/drawing/2014/main" id="{5F143C14-E680-3360-0E4D-DA502AF50E85}"/>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2908694785"/>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Lst>
  <p:hf sldNum="0" hdr="0" ftr="0" dt="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571500" y="476250"/>
            <a:ext cx="11049000" cy="5905500"/>
          </a:xfrm>
          <a:prstGeom prst="rect">
            <a:avLst/>
          </a:prstGeom>
          <a:noFill/>
          <a:ln>
            <a:noFill/>
          </a:ln>
        </p:spPr>
      </p:pic>
      <p:sp>
        <p:nvSpPr>
          <p:cNvPr id="86" name="Google Shape;86;p13"/>
          <p:cNvSpPr txBox="1"/>
          <p:nvPr/>
        </p:nvSpPr>
        <p:spPr>
          <a:xfrm>
            <a:off x="2573860" y="1730073"/>
            <a:ext cx="6870858" cy="1734321"/>
          </a:xfrm>
          <a:prstGeom prst="rect">
            <a:avLst/>
          </a:prstGeom>
          <a:noFill/>
          <a:ln>
            <a:noFill/>
          </a:ln>
        </p:spPr>
        <p:txBody>
          <a:bodyPr spcFirstLastPara="1" wrap="square" lIns="0" tIns="0" rIns="0" bIns="0" anchor="t" anchorCtr="0">
            <a:spAutoFit/>
          </a:bodyPr>
          <a:lstStyle/>
          <a:p>
            <a:pPr marL="0" marR="0" lvl="0" indent="0" algn="ctr" rtl="0">
              <a:lnSpc>
                <a:spcPct val="114974"/>
              </a:lnSpc>
              <a:spcBef>
                <a:spcPts val="0"/>
              </a:spcBef>
              <a:spcAft>
                <a:spcPts val="0"/>
              </a:spcAft>
              <a:buNone/>
            </a:pPr>
            <a:r>
              <a:rPr lang="en-US" sz="3900" b="1" i="0" u="none" strike="noStrike" cap="none" dirty="0">
                <a:solidFill>
                  <a:srgbClr val="0F172A"/>
                </a:solidFill>
                <a:latin typeface="Poppins"/>
                <a:ea typeface="Poppins"/>
                <a:cs typeface="Poppins"/>
                <a:sym typeface="Poppins"/>
              </a:rPr>
              <a:t>Digital Data Transmission</a:t>
            </a:r>
            <a:br>
              <a:rPr lang="en-US" sz="1800" b="0" i="0" u="none" strike="noStrike" cap="none" dirty="0">
                <a:solidFill>
                  <a:schemeClr val="dk1"/>
                </a:solidFill>
                <a:latin typeface="Calibri"/>
                <a:ea typeface="Calibri"/>
                <a:cs typeface="Calibri"/>
                <a:sym typeface="Calibri"/>
              </a:rPr>
            </a:br>
            <a:r>
              <a:rPr lang="en-US" sz="3900" b="1" i="0" u="none" strike="noStrike" cap="none" dirty="0">
                <a:solidFill>
                  <a:srgbClr val="0F172A"/>
                </a:solidFill>
                <a:latin typeface="Poppins"/>
                <a:ea typeface="Poppins"/>
                <a:cs typeface="Poppins"/>
                <a:sym typeface="Poppins"/>
              </a:rPr>
              <a:t> Error Detection System</a:t>
            </a:r>
          </a:p>
          <a:p>
            <a:pPr marL="0" marR="0" lvl="0" indent="0" algn="ctr" rtl="0">
              <a:lnSpc>
                <a:spcPct val="114974"/>
              </a:lnSpc>
              <a:spcBef>
                <a:spcPts val="0"/>
              </a:spcBef>
              <a:spcAft>
                <a:spcPts val="0"/>
              </a:spcAft>
              <a:buNone/>
            </a:pPr>
            <a:r>
              <a:rPr lang="en-US" b="1" dirty="0"/>
              <a:t>,ECE, KLH,2026-27</a:t>
            </a:r>
            <a:endParaRPr b="1" dirty="0"/>
          </a:p>
        </p:txBody>
      </p:sp>
      <p:sp>
        <p:nvSpPr>
          <p:cNvPr id="2" name="TextBox 1">
            <a:extLst>
              <a:ext uri="{FF2B5EF4-FFF2-40B4-BE49-F238E27FC236}">
                <a16:creationId xmlns:a16="http://schemas.microsoft.com/office/drawing/2014/main" id="{1CC3B66F-3938-36F9-A243-E14D1A3804EE}"/>
              </a:ext>
            </a:extLst>
          </p:cNvPr>
          <p:cNvSpPr txBox="1"/>
          <p:nvPr/>
        </p:nvSpPr>
        <p:spPr>
          <a:xfrm>
            <a:off x="571500" y="4607584"/>
            <a:ext cx="3235872" cy="1323439"/>
          </a:xfrm>
          <a:prstGeom prst="rect">
            <a:avLst/>
          </a:prstGeom>
          <a:noFill/>
        </p:spPr>
        <p:txBody>
          <a:bodyPr wrap="square" rtlCol="0">
            <a:spAutoFit/>
          </a:bodyPr>
          <a:lstStyle/>
          <a:p>
            <a:r>
              <a:rPr lang="en-US" sz="1600" dirty="0">
                <a:latin typeface="Bodoni MT" panose="02070603080606020203" pitchFamily="18" charset="0"/>
              </a:rPr>
              <a:t>Presented By:</a:t>
            </a:r>
          </a:p>
          <a:p>
            <a:r>
              <a:rPr lang="en-US" sz="1600" dirty="0">
                <a:latin typeface="Bell MT" panose="02020503060305020303" pitchFamily="18" charset="0"/>
              </a:rPr>
              <a:t>Geethika        -2620040144</a:t>
            </a:r>
          </a:p>
          <a:p>
            <a:r>
              <a:rPr lang="en-US" sz="1600" dirty="0" err="1">
                <a:latin typeface="Bell MT" panose="02020503060305020303" pitchFamily="18" charset="0"/>
              </a:rPr>
              <a:t>Raghuvansh</a:t>
            </a:r>
            <a:r>
              <a:rPr lang="en-US" sz="1600">
                <a:latin typeface="Bell MT" panose="02020503060305020303" pitchFamily="18" charset="0"/>
              </a:rPr>
              <a:t>  </a:t>
            </a:r>
            <a:r>
              <a:rPr lang="en-US" sz="1600" dirty="0">
                <a:latin typeface="Bell MT" panose="02020503060305020303" pitchFamily="18" charset="0"/>
              </a:rPr>
              <a:t>-2620040182</a:t>
            </a:r>
          </a:p>
          <a:p>
            <a:r>
              <a:rPr lang="en-IN" sz="1600" dirty="0">
                <a:latin typeface="Bell MT" panose="02020503060305020303" pitchFamily="18" charset="0"/>
              </a:rPr>
              <a:t>Anvesh           -2620040181</a:t>
            </a:r>
          </a:p>
          <a:p>
            <a:r>
              <a:rPr lang="en-IN" sz="1600" dirty="0">
                <a:latin typeface="Bell MT" panose="02020503060305020303" pitchFamily="18" charset="0"/>
              </a:rPr>
              <a:t>Charan           -2620040143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7D352-14BA-8A0D-C7E6-1BED370E672A}"/>
              </a:ext>
            </a:extLst>
          </p:cNvPr>
          <p:cNvSpPr txBox="1"/>
          <p:nvPr/>
        </p:nvSpPr>
        <p:spPr>
          <a:xfrm>
            <a:off x="1043518" y="599090"/>
            <a:ext cx="9609083" cy="5109091"/>
          </a:xfrm>
          <a:prstGeom prst="rect">
            <a:avLst/>
          </a:prstGeom>
          <a:noFill/>
        </p:spPr>
        <p:txBody>
          <a:bodyPr wrap="square" rtlCol="0">
            <a:spAutoFit/>
          </a:bodyPr>
          <a:lstStyle/>
          <a:p>
            <a:endParaRPr lang="en-IN" dirty="0"/>
          </a:p>
          <a:p>
            <a:r>
              <a:rPr lang="en-IN" sz="2800" b="1" dirty="0"/>
              <a:t> </a:t>
            </a:r>
            <a:r>
              <a:rPr lang="en-IN" sz="2800" b="1" dirty="0">
                <a:solidFill>
                  <a:srgbClr val="002060"/>
                </a:solidFill>
                <a:latin typeface="Bodoni MT" panose="02070603080606020203" pitchFamily="18" charset="0"/>
              </a:rPr>
              <a:t>INTRODUCTION :</a:t>
            </a:r>
          </a:p>
          <a:p>
            <a:endParaRPr lang="en-IN" sz="2800" b="1" dirty="0"/>
          </a:p>
          <a:p>
            <a:pPr marL="457200" lvl="0" indent="-457200">
              <a:buFont typeface="Arial" panose="020B0604020202020204" pitchFamily="34" charset="0"/>
              <a:buChar char="•"/>
            </a:pPr>
            <a:r>
              <a:rPr lang="en-IN" sz="2800" dirty="0">
                <a:latin typeface="Bell MT" panose="02020503060305020303" pitchFamily="18" charset="0"/>
              </a:rPr>
              <a:t>The project focuses on detecting errors during digital data transmission. </a:t>
            </a:r>
          </a:p>
          <a:p>
            <a:pPr marL="457200" lvl="0" indent="-457200">
              <a:buFont typeface="Arial" panose="020B0604020202020204" pitchFamily="34" charset="0"/>
              <a:buChar char="•"/>
            </a:pPr>
            <a:r>
              <a:rPr lang="en-IN" sz="2800" dirty="0">
                <a:latin typeface="Bell MT" panose="02020503060305020303" pitchFamily="18" charset="0"/>
              </a:rPr>
              <a:t>It uses Parity Check and CRC techniques. </a:t>
            </a:r>
          </a:p>
          <a:p>
            <a:pPr marL="457200" lvl="0" indent="-457200">
              <a:buFont typeface="Arial" panose="020B0604020202020204" pitchFamily="34" charset="0"/>
              <a:buChar char="•"/>
            </a:pPr>
            <a:r>
              <a:rPr lang="en-IN" sz="2800" dirty="0">
                <a:latin typeface="Bell MT" panose="02020503060305020303" pitchFamily="18" charset="0"/>
              </a:rPr>
              <a:t>The system can be studied through hardware and software simulation.</a:t>
            </a:r>
          </a:p>
          <a:p>
            <a:pPr marL="457200" lvl="0" indent="-457200">
              <a:buFont typeface="Arial" panose="020B0604020202020204" pitchFamily="34" charset="0"/>
              <a:buChar char="•"/>
            </a:pPr>
            <a:r>
              <a:rPr lang="en-IN" sz="2800" dirty="0">
                <a:latin typeface="Bell MT" panose="02020503060305020303" pitchFamily="18" charset="0"/>
              </a:rPr>
              <a:t>Explores practical applications of these error-detection algorithms in foundational network hardware, such as routers, gateways, and NICs. </a:t>
            </a:r>
          </a:p>
          <a:p>
            <a:endParaRPr lang="en-IN" sz="2800" b="1" dirty="0"/>
          </a:p>
        </p:txBody>
      </p:sp>
    </p:spTree>
    <p:extLst>
      <p:ext uri="{BB962C8B-B14F-4D97-AF65-F5344CB8AC3E}">
        <p14:creationId xmlns:p14="http://schemas.microsoft.com/office/powerpoint/2010/main" val="3712873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Shape 91"/>
        <p:cNvGrpSpPr/>
        <p:nvPr/>
      </p:nvGrpSpPr>
      <p:grpSpPr>
        <a:xfrm>
          <a:off x="0" y="0"/>
          <a:ext cx="0" cy="0"/>
          <a:chOff x="0" y="0"/>
          <a:chExt cx="0" cy="0"/>
        </a:xfrm>
      </p:grpSpPr>
      <p:sp>
        <p:nvSpPr>
          <p:cNvPr id="94" name="Google Shape;94;p14"/>
          <p:cNvSpPr txBox="1"/>
          <p:nvPr/>
        </p:nvSpPr>
        <p:spPr>
          <a:xfrm>
            <a:off x="781050" y="598005"/>
            <a:ext cx="11314494" cy="260071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dirty="0">
                <a:solidFill>
                  <a:srgbClr val="002060"/>
                </a:solidFill>
                <a:latin typeface="Bodoni MT" panose="02070603080606020203" pitchFamily="18" charset="0"/>
                <a:ea typeface="Poppins SemiBold"/>
                <a:cs typeface="Poppins SemiBold"/>
                <a:sym typeface="Poppins SemiBold"/>
              </a:rPr>
              <a:t>Channel Noise &amp; Bit Errors :</a:t>
            </a:r>
          </a:p>
          <a:p>
            <a:pPr marL="0" marR="0" lvl="0" indent="0" algn="l" rtl="0">
              <a:spcBef>
                <a:spcPts val="0"/>
              </a:spcBef>
              <a:spcAft>
                <a:spcPts val="0"/>
              </a:spcAft>
              <a:buNone/>
            </a:pPr>
            <a:endParaRPr lang="en-US" sz="1000" b="0" i="0" u="none" strike="noStrike" cap="none" dirty="0">
              <a:solidFill>
                <a:srgbClr val="FF0000"/>
              </a:solidFill>
              <a:latin typeface="Poppins SemiBold"/>
              <a:ea typeface="Poppins SemiBold"/>
              <a:cs typeface="Poppins SemiBold"/>
              <a:sym typeface="Poppins SemiBold"/>
            </a:endParaRPr>
          </a:p>
          <a:p>
            <a:pPr lvl="0"/>
            <a:r>
              <a:rPr lang="en-IN" sz="1800" b="1" dirty="0">
                <a:latin typeface="Bell MT" panose="02020503060305020303" pitchFamily="18" charset="0"/>
              </a:rPr>
              <a:t>Noise can affect digital data while it is being transmitted. </a:t>
            </a:r>
          </a:p>
          <a:p>
            <a:pPr lvl="0"/>
            <a:r>
              <a:rPr lang="en-IN" sz="1800" b="1" dirty="0">
                <a:latin typeface="Bell MT" panose="02020503060305020303" pitchFamily="18" charset="0"/>
              </a:rPr>
              <a:t>A bit may change from 0 to 1 or 1 to 0. </a:t>
            </a:r>
          </a:p>
          <a:p>
            <a:pPr lvl="0"/>
            <a:r>
              <a:rPr lang="en-IN" sz="1800" b="1" dirty="0">
                <a:latin typeface="Bell MT" panose="02020503060305020303" pitchFamily="18" charset="0"/>
              </a:rPr>
              <a:t>Two important types of errors are: </a:t>
            </a:r>
          </a:p>
          <a:p>
            <a:pPr lvl="1"/>
            <a:r>
              <a:rPr lang="en-IN" sz="1800" b="1" dirty="0">
                <a:latin typeface="Bell MT" panose="02020503060305020303" pitchFamily="18" charset="0"/>
                <a:sym typeface="Wingdings" panose="05000000000000000000" pitchFamily="2" charset="2"/>
              </a:rPr>
              <a:t> </a:t>
            </a:r>
            <a:r>
              <a:rPr lang="en-IN" sz="1800" b="1" dirty="0">
                <a:latin typeface="Bell MT" panose="02020503060305020303" pitchFamily="18" charset="0"/>
              </a:rPr>
              <a:t>Single-bit error </a:t>
            </a:r>
          </a:p>
          <a:p>
            <a:pPr lvl="1"/>
            <a:r>
              <a:rPr lang="en-IN" sz="1800" b="1" dirty="0">
                <a:latin typeface="Bell MT" panose="02020503060305020303" pitchFamily="18" charset="0"/>
                <a:sym typeface="Wingdings" panose="05000000000000000000" pitchFamily="2" charset="2"/>
              </a:rPr>
              <a:t> </a:t>
            </a:r>
            <a:r>
              <a:rPr lang="en-IN" sz="1800" b="1" dirty="0">
                <a:latin typeface="Bell MT" panose="02020503060305020303" pitchFamily="18" charset="0"/>
              </a:rPr>
              <a:t>Burst error </a:t>
            </a:r>
          </a:p>
          <a:p>
            <a:pPr marL="0" marR="0" lvl="0" indent="0" algn="l" rtl="0">
              <a:spcBef>
                <a:spcPts val="0"/>
              </a:spcBef>
              <a:spcAft>
                <a:spcPts val="0"/>
              </a:spcAft>
              <a:buNone/>
            </a:pPr>
            <a:endParaRPr lang="en-US" sz="2550" dirty="0">
              <a:solidFill>
                <a:srgbClr val="00B050"/>
              </a:solidFill>
              <a:latin typeface="Poppins SemiBold"/>
              <a:cs typeface="Poppins SemiBold"/>
              <a:sym typeface="Poppins SemiBold"/>
            </a:endParaRPr>
          </a:p>
          <a:p>
            <a:pPr marL="0" marR="0" lvl="0" indent="0" algn="l" rtl="0">
              <a:spcBef>
                <a:spcPts val="0"/>
              </a:spcBef>
              <a:spcAft>
                <a:spcPts val="0"/>
              </a:spcAft>
              <a:buNone/>
            </a:pPr>
            <a:endParaRPr dirty="0">
              <a:solidFill>
                <a:srgbClr val="00B050"/>
              </a:solidFill>
            </a:endParaRPr>
          </a:p>
        </p:txBody>
      </p:sp>
      <p:sp>
        <p:nvSpPr>
          <p:cNvPr id="96" name="Google Shape;96;p14"/>
          <p:cNvSpPr txBox="1"/>
          <p:nvPr/>
        </p:nvSpPr>
        <p:spPr>
          <a:xfrm>
            <a:off x="781050" y="3203097"/>
            <a:ext cx="4980622"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dirty="0">
                <a:solidFill>
                  <a:srgbClr val="00B050"/>
                </a:solidFill>
                <a:latin typeface="Poppins SemiBold"/>
                <a:ea typeface="Poppins SemiBold"/>
                <a:cs typeface="Poppins SemiBold"/>
                <a:sym typeface="Poppins SemiBold"/>
              </a:rPr>
              <a:t> </a:t>
            </a:r>
            <a:r>
              <a:rPr lang="en-US" sz="2000" b="1" i="0" u="none" strike="noStrike" cap="none" dirty="0">
                <a:solidFill>
                  <a:srgbClr val="002060"/>
                </a:solidFill>
                <a:latin typeface="Bodoni MT" panose="02070603080606020203" pitchFamily="18" charset="0"/>
                <a:ea typeface="Poppins SemiBold"/>
                <a:cs typeface="Poppins SemiBold"/>
                <a:sym typeface="Poppins SemiBold"/>
              </a:rPr>
              <a:t>Single-Bit Errors :</a:t>
            </a:r>
            <a:endParaRPr sz="2000" b="1" dirty="0">
              <a:solidFill>
                <a:srgbClr val="002060"/>
              </a:solidFill>
              <a:latin typeface="Bodoni MT" panose="02070603080606020203" pitchFamily="18" charset="0"/>
            </a:endParaRPr>
          </a:p>
        </p:txBody>
      </p:sp>
      <p:sp>
        <p:nvSpPr>
          <p:cNvPr id="97" name="Google Shape;97;p14"/>
          <p:cNvSpPr txBox="1"/>
          <p:nvPr/>
        </p:nvSpPr>
        <p:spPr>
          <a:xfrm>
            <a:off x="781050" y="3542184"/>
            <a:ext cx="4743450" cy="1246495"/>
          </a:xfrm>
          <a:prstGeom prst="rect">
            <a:avLst/>
          </a:prstGeom>
          <a:noFill/>
          <a:ln>
            <a:noFill/>
          </a:ln>
        </p:spPr>
        <p:txBody>
          <a:bodyPr spcFirstLastPara="1" wrap="square" lIns="0" tIns="0" rIns="0" bIns="0" anchor="t" anchorCtr="0">
            <a:spAutoFit/>
          </a:bodyPr>
          <a:lstStyle/>
          <a:p>
            <a:pPr lvl="0">
              <a:lnSpc>
                <a:spcPct val="150000"/>
              </a:lnSpc>
            </a:pPr>
            <a:r>
              <a:rPr lang="en-US" b="1" dirty="0">
                <a:latin typeface="Bell MT" panose="02020503060305020303" pitchFamily="18" charset="0"/>
                <a:ea typeface="Inter"/>
                <a:cs typeface="Inter"/>
                <a:sym typeface="Inter"/>
              </a:rPr>
              <a:t>1. Occurs when only one bit in a data packet                        is  inverted (0 to 1 or 1 to 0) during </a:t>
            </a:r>
            <a:r>
              <a:rPr lang="en-US" b="1" i="0" u="none" strike="noStrike" cap="none" dirty="0">
                <a:latin typeface="Bell MT" panose="02020503060305020303" pitchFamily="18" charset="0"/>
                <a:ea typeface="Inter"/>
                <a:cs typeface="Inter"/>
                <a:sym typeface="Inter"/>
              </a:rPr>
              <a:t>transmission.</a:t>
            </a:r>
            <a:endParaRPr b="1" dirty="0">
              <a:latin typeface="Bell MT" panose="02020503060305020303" pitchFamily="18" charset="0"/>
            </a:endParaRPr>
          </a:p>
        </p:txBody>
      </p:sp>
      <p:sp>
        <p:nvSpPr>
          <p:cNvPr id="98" name="Google Shape;98;p14"/>
          <p:cNvSpPr txBox="1"/>
          <p:nvPr/>
        </p:nvSpPr>
        <p:spPr>
          <a:xfrm>
            <a:off x="781050" y="4696346"/>
            <a:ext cx="4980622" cy="1523494"/>
          </a:xfrm>
          <a:prstGeom prst="rect">
            <a:avLst/>
          </a:prstGeom>
          <a:noFill/>
          <a:ln>
            <a:noFill/>
          </a:ln>
        </p:spPr>
        <p:txBody>
          <a:bodyPr spcFirstLastPara="1" wrap="square" lIns="0" tIns="0" rIns="0" bIns="0" anchor="t" anchorCtr="0">
            <a:spAutoFit/>
          </a:bodyPr>
          <a:lstStyle/>
          <a:p>
            <a:pPr marR="0" lvl="0" algn="l" rtl="0">
              <a:lnSpc>
                <a:spcPct val="150000"/>
              </a:lnSpc>
              <a:spcBef>
                <a:spcPts val="0"/>
              </a:spcBef>
              <a:spcAft>
                <a:spcPts val="0"/>
              </a:spcAft>
            </a:pPr>
            <a:r>
              <a:rPr lang="en-US" b="1" i="0" u="none" strike="noStrike" cap="none" dirty="0">
                <a:latin typeface="Bell MT" panose="02020503060305020303" pitchFamily="18" charset="0"/>
                <a:ea typeface="Inter"/>
                <a:cs typeface="Inter"/>
                <a:sym typeface="Inter"/>
              </a:rPr>
              <a:t>2. Typically caused by short thermal fluctuations or mild background noise. Simple to catch using basic parity bits</a:t>
            </a:r>
            <a:r>
              <a:rPr lang="en-US" b="0" i="0" u="none" strike="noStrike" cap="none" dirty="0">
                <a:latin typeface="Bell MT" panose="02020503060305020303" pitchFamily="18" charset="0"/>
                <a:ea typeface="Inter"/>
                <a:cs typeface="Inter"/>
                <a:sym typeface="Inter"/>
              </a:rPr>
              <a:t>.</a:t>
            </a:r>
          </a:p>
          <a:p>
            <a:pPr marR="0" lvl="0" algn="l" rtl="0">
              <a:lnSpc>
                <a:spcPct val="150000"/>
              </a:lnSpc>
              <a:spcBef>
                <a:spcPts val="0"/>
              </a:spcBef>
              <a:spcAft>
                <a:spcPts val="0"/>
              </a:spcAft>
            </a:pPr>
            <a:endParaRPr lang="en-US" sz="1200" dirty="0">
              <a:solidFill>
                <a:schemeClr val="bg1"/>
              </a:solidFill>
              <a:latin typeface="Inter"/>
              <a:ea typeface="Inter"/>
              <a:sym typeface="Inter"/>
            </a:endParaRPr>
          </a:p>
        </p:txBody>
      </p:sp>
      <p:sp>
        <p:nvSpPr>
          <p:cNvPr id="100" name="Google Shape;100;p14"/>
          <p:cNvSpPr txBox="1"/>
          <p:nvPr/>
        </p:nvSpPr>
        <p:spPr>
          <a:xfrm>
            <a:off x="6269620" y="3213307"/>
            <a:ext cx="4980622" cy="307777"/>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650" b="0" i="0" u="none" strike="noStrike" cap="none" dirty="0">
                <a:solidFill>
                  <a:srgbClr val="00B050"/>
                </a:solidFill>
                <a:latin typeface="Poppins SemiBold"/>
                <a:ea typeface="Poppins SemiBold"/>
                <a:cs typeface="Poppins SemiBold"/>
                <a:sym typeface="Poppins SemiBold"/>
              </a:rPr>
              <a:t>   </a:t>
            </a:r>
            <a:r>
              <a:rPr lang="en-US" sz="2000" b="0" i="0" u="none" strike="noStrike" cap="none" dirty="0">
                <a:solidFill>
                  <a:srgbClr val="002060"/>
                </a:solidFill>
                <a:latin typeface="Poppins SemiBold"/>
                <a:ea typeface="Poppins SemiBold"/>
                <a:cs typeface="Poppins SemiBold"/>
                <a:sym typeface="Poppins SemiBold"/>
              </a:rPr>
              <a:t>Burst Errors  :</a:t>
            </a:r>
            <a:endParaRPr sz="2000" dirty="0">
              <a:solidFill>
                <a:srgbClr val="002060"/>
              </a:solidFill>
            </a:endParaRPr>
          </a:p>
        </p:txBody>
      </p:sp>
      <p:sp>
        <p:nvSpPr>
          <p:cNvPr id="101" name="Google Shape;101;p14"/>
          <p:cNvSpPr txBox="1"/>
          <p:nvPr/>
        </p:nvSpPr>
        <p:spPr>
          <a:xfrm>
            <a:off x="6096000" y="3510874"/>
            <a:ext cx="4743450"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1" i="0" u="none" strike="noStrike" cap="none" dirty="0">
                <a:solidFill>
                  <a:schemeClr val="tx1">
                    <a:lumMod val="95000"/>
                    <a:lumOff val="5000"/>
                  </a:schemeClr>
                </a:solidFill>
                <a:latin typeface="Bell MT" panose="02020503060305020303" pitchFamily="18" charset="0"/>
                <a:ea typeface="Inter"/>
                <a:cs typeface="Inter"/>
                <a:sym typeface="Inter"/>
              </a:rPr>
              <a:t>1. Occurs when two or more consecutive bits are corrupted due to impulse noise spikes.</a:t>
            </a:r>
            <a:endParaRPr b="1" dirty="0">
              <a:solidFill>
                <a:schemeClr val="tx1">
                  <a:lumMod val="95000"/>
                  <a:lumOff val="5000"/>
                </a:schemeClr>
              </a:solidFill>
              <a:latin typeface="Bell MT" panose="02020503060305020303" pitchFamily="18" charset="0"/>
            </a:endParaRPr>
          </a:p>
        </p:txBody>
      </p:sp>
      <p:sp>
        <p:nvSpPr>
          <p:cNvPr id="102" name="Google Shape;102;p14"/>
          <p:cNvSpPr txBox="1"/>
          <p:nvPr/>
        </p:nvSpPr>
        <p:spPr>
          <a:xfrm>
            <a:off x="6096000" y="4696346"/>
            <a:ext cx="4743450" cy="12464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1" i="0" u="none" strike="noStrike" cap="none" dirty="0">
                <a:solidFill>
                  <a:schemeClr val="tx1">
                    <a:lumMod val="95000"/>
                    <a:lumOff val="5000"/>
                  </a:schemeClr>
                </a:solidFill>
                <a:latin typeface="Bell MT" panose="02020503060305020303" pitchFamily="18" charset="0"/>
                <a:ea typeface="Inter"/>
                <a:cs typeface="Inter"/>
                <a:sym typeface="Inter"/>
              </a:rPr>
              <a:t>2. Presents a greater threat to data integrity, necessitating robust polynomial techniques like CRC to ensure reliable recovery</a:t>
            </a:r>
            <a:r>
              <a:rPr lang="en-US" b="0" i="0" u="none" strike="noStrike" cap="none" dirty="0">
                <a:solidFill>
                  <a:schemeClr val="tx1">
                    <a:lumMod val="95000"/>
                    <a:lumOff val="5000"/>
                  </a:schemeClr>
                </a:solidFill>
                <a:latin typeface="Bell MT" panose="02020503060305020303" pitchFamily="18" charset="0"/>
                <a:ea typeface="Inter"/>
                <a:cs typeface="Inter"/>
                <a:sym typeface="Inter"/>
              </a:rPr>
              <a:t>.</a:t>
            </a:r>
            <a:endParaRPr dirty="0">
              <a:solidFill>
                <a:schemeClr val="tx1">
                  <a:lumMod val="95000"/>
                  <a:lumOff val="5000"/>
                </a:schemeClr>
              </a:solidFill>
              <a:latin typeface="Bell MT" panose="02020503060305020303"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Shape 106"/>
        <p:cNvGrpSpPr/>
        <p:nvPr/>
      </p:nvGrpSpPr>
      <p:grpSpPr>
        <a:xfrm>
          <a:off x="0" y="0"/>
          <a:ext cx="0" cy="0"/>
          <a:chOff x="0" y="0"/>
          <a:chExt cx="0" cy="0"/>
        </a:xfrm>
      </p:grpSpPr>
      <p:sp>
        <p:nvSpPr>
          <p:cNvPr id="108" name="Google Shape;108;p15"/>
          <p:cNvSpPr txBox="1"/>
          <p:nvPr/>
        </p:nvSpPr>
        <p:spPr>
          <a:xfrm>
            <a:off x="474726" y="3070853"/>
            <a:ext cx="888873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rgbClr val="002060"/>
                </a:solidFill>
                <a:latin typeface="Bodoni MT" panose="02070603080606020203" pitchFamily="18" charset="0"/>
                <a:ea typeface="Poppins SemiBold"/>
                <a:cs typeface="Poppins SemiBold"/>
                <a:sym typeface="Poppins SemiBold"/>
              </a:rPr>
              <a:t>System Execution Flow :</a:t>
            </a:r>
            <a:endParaRPr sz="3200" b="1" dirty="0">
              <a:solidFill>
                <a:srgbClr val="002060"/>
              </a:solidFill>
              <a:latin typeface="Bodoni MT" panose="02070603080606020203" pitchFamily="18" charset="0"/>
            </a:endParaRPr>
          </a:p>
        </p:txBody>
      </p:sp>
      <p:sp>
        <p:nvSpPr>
          <p:cNvPr id="109" name="Google Shape;109;p15"/>
          <p:cNvSpPr txBox="1"/>
          <p:nvPr/>
        </p:nvSpPr>
        <p:spPr>
          <a:xfrm>
            <a:off x="474726" y="3624851"/>
            <a:ext cx="7452741" cy="1107996"/>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u="none" strike="noStrike" cap="none" dirty="0">
                <a:solidFill>
                  <a:schemeClr val="tx1">
                    <a:lumMod val="95000"/>
                    <a:lumOff val="5000"/>
                  </a:schemeClr>
                </a:solidFill>
                <a:latin typeface="Bell MT" panose="02020503060305020303" pitchFamily="18" charset="0"/>
                <a:ea typeface="Inter"/>
                <a:cs typeface="Inter"/>
                <a:sym typeface="Inter"/>
              </a:rPr>
              <a:t>The transmission framework comprises three core stages:</a:t>
            </a:r>
            <a:endParaRPr sz="2400" b="1" dirty="0">
              <a:solidFill>
                <a:schemeClr val="tx1">
                  <a:lumMod val="95000"/>
                  <a:lumOff val="5000"/>
                </a:schemeClr>
              </a:solidFill>
              <a:latin typeface="Bell MT" panose="02020503060305020303" pitchFamily="18" charset="0"/>
            </a:endParaRPr>
          </a:p>
        </p:txBody>
      </p:sp>
      <p:sp>
        <p:nvSpPr>
          <p:cNvPr id="110" name="Google Shape;110;p15"/>
          <p:cNvSpPr txBox="1"/>
          <p:nvPr/>
        </p:nvSpPr>
        <p:spPr>
          <a:xfrm>
            <a:off x="474726" y="4671292"/>
            <a:ext cx="8358378" cy="1107996"/>
          </a:xfrm>
          <a:prstGeom prst="rect">
            <a:avLst/>
          </a:prstGeom>
          <a:noFill/>
          <a:ln>
            <a:noFill/>
          </a:ln>
        </p:spPr>
        <p:txBody>
          <a:bodyPr spcFirstLastPara="1" wrap="square" lIns="0" tIns="0" rIns="0" bIns="0" anchor="t" anchorCtr="0">
            <a:spAutoFit/>
          </a:bodyPr>
          <a:lstStyle/>
          <a:p>
            <a:pPr lvl="0"/>
            <a:r>
              <a:rPr lang="en-US" sz="1800" b="1" i="0" u="none" strike="noStrike" cap="none" dirty="0">
                <a:solidFill>
                  <a:schemeClr val="tx1">
                    <a:lumMod val="95000"/>
                    <a:lumOff val="5000"/>
                  </a:schemeClr>
                </a:solidFill>
                <a:latin typeface="Bell MT" panose="02020503060305020303" pitchFamily="18" charset="0"/>
                <a:ea typeface="Inter"/>
                <a:cs typeface="Inter"/>
                <a:sym typeface="Inter"/>
              </a:rPr>
              <a:t>1.</a:t>
            </a:r>
            <a:r>
              <a:rPr lang="en-US" sz="2400" b="1" i="0" u="none" strike="noStrike" cap="none" dirty="0">
                <a:solidFill>
                  <a:schemeClr val="tx1">
                    <a:lumMod val="95000"/>
                    <a:lumOff val="5000"/>
                  </a:schemeClr>
                </a:solidFill>
                <a:latin typeface="Bell MT" panose="02020503060305020303" pitchFamily="18" charset="0"/>
                <a:ea typeface="Inter"/>
                <a:cs typeface="Inter"/>
                <a:sym typeface="Inter"/>
              </a:rPr>
              <a:t> Transmitter: Calculates redundancy bits from payload data.</a:t>
            </a:r>
            <a:br>
              <a:rPr lang="en-US" sz="2400" b="1" i="0" u="none" strike="noStrike" cap="none" dirty="0">
                <a:solidFill>
                  <a:schemeClr val="tx1">
                    <a:lumMod val="95000"/>
                    <a:lumOff val="5000"/>
                  </a:schemeClr>
                </a:solidFill>
                <a:latin typeface="Bell MT" panose="02020503060305020303" pitchFamily="18" charset="0"/>
                <a:ea typeface="Calibri"/>
                <a:cs typeface="Calibri"/>
                <a:sym typeface="Calibri"/>
              </a:rPr>
            </a:br>
            <a:r>
              <a:rPr lang="en-US" sz="2400" b="1" i="0" u="none" strike="noStrike" cap="none" dirty="0">
                <a:solidFill>
                  <a:schemeClr val="tx1">
                    <a:lumMod val="95000"/>
                    <a:lumOff val="5000"/>
                  </a:schemeClr>
                </a:solidFill>
                <a:latin typeface="Bell MT" panose="02020503060305020303" pitchFamily="18" charset="0"/>
                <a:ea typeface="Inter"/>
                <a:cs typeface="Inter"/>
                <a:sym typeface="Inter"/>
              </a:rPr>
              <a:t>2. Channel: Simulates line noise and bit-flip conditions.</a:t>
            </a:r>
            <a:br>
              <a:rPr lang="en-US" sz="2400" b="1" i="0" u="none" strike="noStrike" cap="none" dirty="0">
                <a:solidFill>
                  <a:schemeClr val="tx1">
                    <a:lumMod val="95000"/>
                    <a:lumOff val="5000"/>
                  </a:schemeClr>
                </a:solidFill>
                <a:latin typeface="Bell MT" panose="02020503060305020303" pitchFamily="18" charset="0"/>
                <a:ea typeface="Calibri"/>
                <a:cs typeface="Calibri"/>
                <a:sym typeface="Calibri"/>
              </a:rPr>
            </a:br>
            <a:r>
              <a:rPr lang="en-US" sz="2400" b="1" i="0" u="none" strike="noStrike" cap="none" dirty="0">
                <a:solidFill>
                  <a:schemeClr val="tx1">
                    <a:lumMod val="95000"/>
                    <a:lumOff val="5000"/>
                  </a:schemeClr>
                </a:solidFill>
                <a:latin typeface="Bell MT" panose="02020503060305020303" pitchFamily="18" charset="0"/>
                <a:ea typeface="Inter"/>
                <a:cs typeface="Inter"/>
                <a:sym typeface="Inter"/>
              </a:rPr>
              <a:t>3. Receiver: Verifies zero-remainder flags to validate data</a:t>
            </a:r>
            <a:endParaRPr dirty="0">
              <a:solidFill>
                <a:schemeClr val="tx1">
                  <a:lumMod val="95000"/>
                  <a:lumOff val="5000"/>
                </a:schemeClr>
              </a:solidFill>
              <a:latin typeface="Bell MT" panose="02020503060305020303" pitchFamily="18" charset="0"/>
            </a:endParaRPr>
          </a:p>
        </p:txBody>
      </p:sp>
      <p:sp>
        <p:nvSpPr>
          <p:cNvPr id="3" name="TextBox 2">
            <a:extLst>
              <a:ext uri="{FF2B5EF4-FFF2-40B4-BE49-F238E27FC236}">
                <a16:creationId xmlns:a16="http://schemas.microsoft.com/office/drawing/2014/main" id="{81FEAE2B-4E6A-9FCD-341F-946CA904859B}"/>
              </a:ext>
            </a:extLst>
          </p:cNvPr>
          <p:cNvSpPr txBox="1"/>
          <p:nvPr/>
        </p:nvSpPr>
        <p:spPr>
          <a:xfrm>
            <a:off x="0" y="793307"/>
            <a:ext cx="12192000" cy="2215991"/>
          </a:xfrm>
          <a:prstGeom prst="rect">
            <a:avLst/>
          </a:prstGeom>
          <a:noFill/>
        </p:spPr>
        <p:txBody>
          <a:bodyPr wrap="square" rtlCol="0">
            <a:spAutoFit/>
          </a:bodyPr>
          <a:lstStyle/>
          <a:p>
            <a:pPr marL="342900" lvl="0" indent="-342900">
              <a:buFont typeface="Arial" panose="020B0604020202020204" pitchFamily="34" charset="0"/>
              <a:buChar char="•"/>
            </a:pPr>
            <a:r>
              <a:rPr lang="en-IN" sz="2400" b="1" dirty="0">
                <a:solidFill>
                  <a:schemeClr val="tx1">
                    <a:lumMod val="95000"/>
                    <a:lumOff val="5000"/>
                  </a:schemeClr>
                </a:solidFill>
                <a:latin typeface="Bell MT" panose="02020503060305020303" pitchFamily="18" charset="0"/>
              </a:rPr>
              <a:t>Detect single-bit and burst errors in transmitted data. </a:t>
            </a:r>
          </a:p>
          <a:p>
            <a:pPr marL="342900" lvl="0" indent="-342900">
              <a:buFont typeface="Arial" panose="020B0604020202020204" pitchFamily="34" charset="0"/>
              <a:buChar char="•"/>
            </a:pPr>
            <a:r>
              <a:rPr lang="en-IN" sz="2400" b="1" dirty="0">
                <a:solidFill>
                  <a:schemeClr val="tx1">
                    <a:lumMod val="95000"/>
                    <a:lumOff val="5000"/>
                  </a:schemeClr>
                </a:solidFill>
                <a:latin typeface="Bell MT" panose="02020503060305020303" pitchFamily="18" charset="0"/>
              </a:rPr>
              <a:t>Add extra redundancy bits to help identify errors. </a:t>
            </a:r>
          </a:p>
          <a:p>
            <a:pPr marL="342900" lvl="0" indent="-342900">
              <a:buFont typeface="Arial" panose="020B0604020202020204" pitchFamily="34" charset="0"/>
              <a:buChar char="•"/>
            </a:pPr>
            <a:r>
              <a:rPr lang="en-IN" sz="2400" b="1" dirty="0">
                <a:solidFill>
                  <a:schemeClr val="tx1">
                    <a:lumMod val="95000"/>
                    <a:lumOff val="5000"/>
                  </a:schemeClr>
                </a:solidFill>
                <a:latin typeface="Bell MT" panose="02020503060305020303" pitchFamily="18" charset="0"/>
              </a:rPr>
              <a:t>Use CRC to provide reliable detection of transmission errors. </a:t>
            </a:r>
          </a:p>
          <a:p>
            <a:pPr marL="342900" lvl="0" indent="-342900">
              <a:buFont typeface="Arial" panose="020B0604020202020204" pitchFamily="34" charset="0"/>
              <a:buChar char="•"/>
            </a:pPr>
            <a:r>
              <a:rPr lang="en-IN" sz="2400" b="1" dirty="0">
                <a:solidFill>
                  <a:schemeClr val="tx1">
                    <a:lumMod val="95000"/>
                    <a:lumOff val="5000"/>
                  </a:schemeClr>
                </a:solidFill>
                <a:latin typeface="Bell MT" panose="02020503060305020303" pitchFamily="18" charset="0"/>
              </a:rPr>
              <a:t>Simulate noise and bit changes in the communication channel. </a:t>
            </a:r>
          </a:p>
          <a:p>
            <a:pPr marL="342900" lvl="0" indent="-342900">
              <a:buFont typeface="Arial" panose="020B0604020202020204" pitchFamily="34" charset="0"/>
              <a:buChar char="•"/>
            </a:pPr>
            <a:r>
              <a:rPr lang="en-IN" sz="2400" b="1" dirty="0">
                <a:solidFill>
                  <a:schemeClr val="tx1">
                    <a:lumMod val="95000"/>
                    <a:lumOff val="5000"/>
                  </a:schemeClr>
                </a:solidFill>
                <a:latin typeface="Bell MT" panose="02020503060305020303" pitchFamily="18" charset="0"/>
              </a:rPr>
              <a:t>Verify the received data at the receiver and determine whether it contains errors. </a:t>
            </a:r>
          </a:p>
          <a:p>
            <a:endParaRPr lang="en-IN" dirty="0"/>
          </a:p>
        </p:txBody>
      </p:sp>
      <p:sp>
        <p:nvSpPr>
          <p:cNvPr id="4" name="TextBox 3">
            <a:extLst>
              <a:ext uri="{FF2B5EF4-FFF2-40B4-BE49-F238E27FC236}">
                <a16:creationId xmlns:a16="http://schemas.microsoft.com/office/drawing/2014/main" id="{A0FA1950-15D3-6366-E225-AD21C4E3562D}"/>
              </a:ext>
            </a:extLst>
          </p:cNvPr>
          <p:cNvSpPr txBox="1"/>
          <p:nvPr/>
        </p:nvSpPr>
        <p:spPr>
          <a:xfrm>
            <a:off x="265832" y="270087"/>
            <a:ext cx="6365912" cy="523220"/>
          </a:xfrm>
          <a:prstGeom prst="rect">
            <a:avLst/>
          </a:prstGeom>
          <a:noFill/>
        </p:spPr>
        <p:txBody>
          <a:bodyPr wrap="square" rtlCol="0">
            <a:spAutoFit/>
          </a:bodyPr>
          <a:lstStyle/>
          <a:p>
            <a:r>
              <a:rPr lang="en-IN" sz="2800" b="1" dirty="0">
                <a:solidFill>
                  <a:srgbClr val="002060"/>
                </a:solidFill>
                <a:latin typeface="Bodoni MT" panose="02070603080606020203" pitchFamily="18" charset="0"/>
              </a:rPr>
              <a:t>Main Objective: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accent6">
            <a:lumMod val="60000"/>
            <a:lumOff val="40000"/>
          </a:schemeClr>
        </a:solidFill>
        <a:effectLst/>
      </p:bgPr>
    </p:bg>
    <p:spTree>
      <p:nvGrpSpPr>
        <p:cNvPr id="1" name="Shape 115"/>
        <p:cNvGrpSpPr/>
        <p:nvPr/>
      </p:nvGrpSpPr>
      <p:grpSpPr>
        <a:xfrm>
          <a:off x="0" y="0"/>
          <a:ext cx="0" cy="0"/>
          <a:chOff x="0" y="0"/>
          <a:chExt cx="0" cy="0"/>
        </a:xfrm>
      </p:grpSpPr>
      <p:sp>
        <p:nvSpPr>
          <p:cNvPr id="119" name="Google Shape;119;p16"/>
          <p:cNvSpPr txBox="1"/>
          <p:nvPr/>
        </p:nvSpPr>
        <p:spPr>
          <a:xfrm>
            <a:off x="590550" y="267434"/>
            <a:ext cx="11601450"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dirty="0">
                <a:solidFill>
                  <a:srgbClr val="002060"/>
                </a:solidFill>
                <a:latin typeface="Bodoni MT" panose="02070603080606020203" pitchFamily="18" charset="0"/>
                <a:ea typeface="Poppins SemiBold"/>
                <a:cs typeface="Poppins SemiBold"/>
                <a:sym typeface="Poppins SemiBold"/>
              </a:rPr>
              <a:t>Error Detection Techniques Are :</a:t>
            </a:r>
            <a:endParaRPr sz="2800" b="1" dirty="0">
              <a:solidFill>
                <a:srgbClr val="002060"/>
              </a:solidFill>
              <a:latin typeface="Bodoni MT" panose="02070603080606020203" pitchFamily="18" charset="0"/>
            </a:endParaRPr>
          </a:p>
        </p:txBody>
      </p:sp>
      <p:sp>
        <p:nvSpPr>
          <p:cNvPr id="121" name="Google Shape;121;p16"/>
          <p:cNvSpPr txBox="1"/>
          <p:nvPr/>
        </p:nvSpPr>
        <p:spPr>
          <a:xfrm>
            <a:off x="590550" y="809560"/>
            <a:ext cx="10966450" cy="6370975"/>
          </a:xfrm>
          <a:prstGeom prst="rect">
            <a:avLst/>
          </a:prstGeom>
          <a:noFill/>
          <a:ln>
            <a:noFill/>
          </a:ln>
        </p:spPr>
        <p:txBody>
          <a:bodyPr spcFirstLastPara="1" wrap="square" lIns="0" tIns="0" rIns="0" bIns="0" anchor="t" anchorCtr="0">
            <a:spAutoFit/>
          </a:bodyPr>
          <a:lstStyle/>
          <a:p>
            <a:pPr lvl="0"/>
            <a:r>
              <a:rPr lang="en-US" sz="2000" b="1" dirty="0">
                <a:latin typeface="Bodoni MT" panose="02070603080606020203" pitchFamily="18" charset="0"/>
                <a:ea typeface="Poppins SemiBold"/>
                <a:cs typeface="Poppins SemiBold"/>
                <a:sym typeface="Poppins SemiBold"/>
              </a:rPr>
              <a:t>Parity Check:</a:t>
            </a:r>
          </a:p>
          <a:p>
            <a:pPr marL="342900" lvl="0" indent="-342900">
              <a:buAutoNum type="arabicPeriod"/>
            </a:pPr>
            <a:r>
              <a:rPr lang="en-US" b="1" dirty="0">
                <a:latin typeface="Bell MT" panose="02020503060305020303" pitchFamily="18" charset="0"/>
                <a:ea typeface="Poppins SemiBold"/>
                <a:cs typeface="Poppins SemiBold"/>
                <a:sym typeface="Poppins SemiBold"/>
              </a:rPr>
              <a:t>The simplest method. An extra parity bit is added to the data.</a:t>
            </a:r>
          </a:p>
          <a:p>
            <a:pPr marL="342900" lvl="0" indent="-342900">
              <a:buAutoNum type="arabicPeriod"/>
            </a:pPr>
            <a:r>
              <a:rPr lang="en-US" b="1" dirty="0">
                <a:latin typeface="Bell MT" panose="02020503060305020303" pitchFamily="18" charset="0"/>
                <a:ea typeface="Poppins SemiBold"/>
                <a:cs typeface="Poppins SemiBold"/>
                <a:sym typeface="Poppins SemiBold"/>
              </a:rPr>
              <a:t>- Even parity: number of 1s must be even.</a:t>
            </a:r>
          </a:p>
          <a:p>
            <a:pPr marL="342900" lvl="0" indent="-342900">
              <a:buAutoNum type="arabicPeriod"/>
            </a:pPr>
            <a:r>
              <a:rPr lang="en-US" b="1" dirty="0">
                <a:latin typeface="Bell MT" panose="02020503060305020303" pitchFamily="18" charset="0"/>
                <a:ea typeface="Poppins SemiBold"/>
                <a:cs typeface="Poppins SemiBold"/>
                <a:sym typeface="Poppins SemiBold"/>
              </a:rPr>
              <a:t>- Odd parity: number of 1s must be odd.</a:t>
            </a:r>
          </a:p>
          <a:p>
            <a:pPr marL="342900" lvl="0" indent="-342900">
              <a:buAutoNum type="arabicPeriod"/>
            </a:pPr>
            <a:r>
              <a:rPr lang="en-US" b="1" dirty="0">
                <a:latin typeface="Bell MT" panose="02020503060305020303" pitchFamily="18" charset="0"/>
                <a:ea typeface="Poppins SemiBold"/>
                <a:cs typeface="Poppins SemiBold"/>
                <a:sym typeface="Poppins SemiBold"/>
              </a:rPr>
              <a:t>- Simple and inexpensive.</a:t>
            </a:r>
          </a:p>
          <a:p>
            <a:pPr marL="342900" lvl="0" indent="-342900">
              <a:buAutoNum type="arabicPeriod"/>
            </a:pPr>
            <a:r>
              <a:rPr lang="en-US" b="1" dirty="0">
                <a:latin typeface="Bell MT" panose="02020503060305020303" pitchFamily="18" charset="0"/>
                <a:ea typeface="Poppins SemiBold"/>
                <a:cs typeface="Poppins SemiBold"/>
                <a:sym typeface="Poppins SemiBold"/>
              </a:rPr>
              <a:t>- Mainly detects single-bit errors.</a:t>
            </a:r>
          </a:p>
          <a:p>
            <a:pPr lvl="0"/>
            <a:endParaRPr lang="en-US" b="1" dirty="0">
              <a:latin typeface="Bell MT" panose="02020503060305020303" pitchFamily="18" charset="0"/>
              <a:cs typeface="Poppins SemiBold"/>
              <a:sym typeface="Poppins SemiBold"/>
            </a:endParaRPr>
          </a:p>
          <a:p>
            <a:pPr lvl="0"/>
            <a:r>
              <a:rPr lang="en-US" b="1" dirty="0">
                <a:solidFill>
                  <a:srgbClr val="1E293B"/>
                </a:solidFill>
                <a:latin typeface="Bell MT" panose="02020503060305020303" pitchFamily="18" charset="0"/>
                <a:cs typeface="Poppins SemiBold"/>
                <a:sym typeface="Poppins SemiBold"/>
              </a:rPr>
              <a:t> </a:t>
            </a:r>
            <a:r>
              <a:rPr lang="en-US" sz="2000" b="1" dirty="0">
                <a:latin typeface="Bodoni MT" panose="02070603080606020203" pitchFamily="18" charset="0"/>
              </a:rPr>
              <a:t>Checksum:</a:t>
            </a:r>
          </a:p>
          <a:p>
            <a:pPr lvl="0"/>
            <a:r>
              <a:rPr lang="en-US" b="1" dirty="0">
                <a:latin typeface="Bell MT" panose="02020503060305020303" pitchFamily="18" charset="0"/>
              </a:rPr>
              <a:t>The data is divided into smaller sections, and mathematical calculations are performed to generate a checksum.</a:t>
            </a:r>
          </a:p>
          <a:p>
            <a:pPr lvl="0"/>
            <a:r>
              <a:rPr lang="en-US" b="1" dirty="0">
                <a:latin typeface="Bell MT" panose="02020503060305020303" pitchFamily="18" charset="0"/>
              </a:rPr>
              <a:t>The checksum is sent along with the data. The receiver calculates it again and compares the values</a:t>
            </a:r>
          </a:p>
          <a:p>
            <a:pPr lvl="0"/>
            <a:r>
              <a:rPr lang="en-US" b="1" dirty="0">
                <a:latin typeface="Bell MT" panose="02020503060305020303" pitchFamily="18" charset="0"/>
              </a:rPr>
              <a:t>- Common in networking.</a:t>
            </a:r>
          </a:p>
          <a:p>
            <a:pPr marL="285750" lvl="0" indent="-285750">
              <a:buFontTx/>
              <a:buChar char="-"/>
            </a:pPr>
            <a:r>
              <a:rPr lang="en-US" b="1" dirty="0">
                <a:latin typeface="Bell MT" panose="02020503060305020303" pitchFamily="18" charset="0"/>
              </a:rPr>
              <a:t>Can detect many transmission errors.</a:t>
            </a:r>
          </a:p>
          <a:p>
            <a:pPr marL="285750" lvl="0" indent="-285750">
              <a:buFontTx/>
              <a:buChar char="-"/>
            </a:pPr>
            <a:endParaRPr lang="en-US" b="1" dirty="0">
              <a:latin typeface="Bell MT" panose="02020503060305020303" pitchFamily="18" charset="0"/>
            </a:endParaRPr>
          </a:p>
          <a:p>
            <a:pPr lvl="0"/>
            <a:r>
              <a:rPr lang="en-US" b="1" dirty="0">
                <a:latin typeface="Bodoni MT" panose="02070603080606020203" pitchFamily="18" charset="0"/>
              </a:rPr>
              <a:t>  CRC (Cyclic Redundancy Check):</a:t>
            </a:r>
          </a:p>
          <a:p>
            <a:pPr marL="285750" lvl="0" indent="-285750">
              <a:buFontTx/>
              <a:buChar char="-"/>
            </a:pPr>
            <a:r>
              <a:rPr lang="en-US" b="1" dirty="0">
                <a:latin typeface="Bell MT" panose="02020503060305020303" pitchFamily="18" charset="0"/>
              </a:rPr>
              <a:t>CRC uses binary polynomial division to calculate a remainder. The remainder is attached to the original data. At the receiver, the same calculation is performed.</a:t>
            </a:r>
          </a:p>
          <a:p>
            <a:pPr marL="285750" lvl="0" indent="-285750">
              <a:buFontTx/>
              <a:buChar char="-"/>
            </a:pPr>
            <a:r>
              <a:rPr lang="en-US" b="1" dirty="0">
                <a:latin typeface="Bell MT" panose="02020503060305020303" pitchFamily="18" charset="0"/>
              </a:rPr>
              <a:t>- Very reliable.</a:t>
            </a:r>
          </a:p>
          <a:p>
            <a:pPr marL="285750" lvl="0" indent="-285750">
              <a:buFontTx/>
              <a:buChar char="-"/>
            </a:pPr>
            <a:r>
              <a:rPr lang="en-US" b="1" dirty="0">
                <a:latin typeface="Bell MT" panose="02020503060305020303" pitchFamily="18" charset="0"/>
              </a:rPr>
              <a:t>- Detects burst errors effectively.</a:t>
            </a:r>
          </a:p>
          <a:p>
            <a:pPr marL="285750" lvl="0" indent="-285750">
              <a:buFontTx/>
              <a:buChar char="-"/>
            </a:pPr>
            <a:r>
              <a:rPr lang="en-US" b="1" dirty="0">
                <a:latin typeface="Bell MT" panose="02020503060305020303" pitchFamily="18" charset="0"/>
              </a:rPr>
              <a:t>- Widely used in networks, storage devices, and communication systems.</a:t>
            </a:r>
          </a:p>
          <a:p>
            <a:pPr marL="285750" lvl="0" indent="-285750">
              <a:buFontTx/>
              <a:buChar char="-"/>
            </a:pPr>
            <a:endParaRPr lang="en-US" b="1" dirty="0">
              <a:latin typeface="Bell MT" panose="02020503060305020303" pitchFamily="18" charset="0"/>
            </a:endParaRPr>
          </a:p>
          <a:p>
            <a:pPr marL="285750" lvl="0" indent="-285750">
              <a:buFontTx/>
              <a:buChar char="-"/>
            </a:pPr>
            <a:endParaRPr lang="en-US" b="1" dirty="0">
              <a:latin typeface="Bell MT" panose="02020503060305020303" pitchFamily="18" charset="0"/>
            </a:endParaRPr>
          </a:p>
          <a:p>
            <a:pPr marL="285750" lvl="0" indent="-285750">
              <a:buFontTx/>
              <a:buChar char="-"/>
            </a:pPr>
            <a:endParaRPr b="1" dirty="0">
              <a:latin typeface="Bell MT" panose="02020503060305020303"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Shape 135"/>
        <p:cNvGrpSpPr/>
        <p:nvPr/>
      </p:nvGrpSpPr>
      <p:grpSpPr>
        <a:xfrm>
          <a:off x="0" y="0"/>
          <a:ext cx="0" cy="0"/>
          <a:chOff x="0" y="0"/>
          <a:chExt cx="0" cy="0"/>
        </a:xfrm>
      </p:grpSpPr>
      <p:sp>
        <p:nvSpPr>
          <p:cNvPr id="2" name="TextBox 1">
            <a:extLst>
              <a:ext uri="{FF2B5EF4-FFF2-40B4-BE49-F238E27FC236}">
                <a16:creationId xmlns:a16="http://schemas.microsoft.com/office/drawing/2014/main" id="{33D097B2-B022-ABFB-95BE-2B130AC2F21C}"/>
              </a:ext>
            </a:extLst>
          </p:cNvPr>
          <p:cNvSpPr txBox="1"/>
          <p:nvPr/>
        </p:nvSpPr>
        <p:spPr>
          <a:xfrm>
            <a:off x="243840" y="91440"/>
            <a:ext cx="11948160" cy="2277547"/>
          </a:xfrm>
          <a:prstGeom prst="rect">
            <a:avLst/>
          </a:prstGeom>
          <a:noFill/>
        </p:spPr>
        <p:txBody>
          <a:bodyPr wrap="square" rtlCol="0">
            <a:spAutoFit/>
          </a:bodyPr>
          <a:lstStyle/>
          <a:p>
            <a:endParaRPr lang="en-US" dirty="0"/>
          </a:p>
          <a:p>
            <a:r>
              <a:rPr lang="en-US" sz="2400" dirty="0"/>
              <a:t>      </a:t>
            </a:r>
            <a:r>
              <a:rPr lang="en-US" sz="2800" b="1" dirty="0">
                <a:solidFill>
                  <a:srgbClr val="002060"/>
                </a:solidFill>
                <a:latin typeface="Bodoni MT" panose="02070603080606020203" pitchFamily="18" charset="0"/>
              </a:rPr>
              <a:t>Proposed System:</a:t>
            </a:r>
          </a:p>
          <a:p>
            <a:r>
              <a:rPr lang="en-US" sz="2400" dirty="0">
                <a:latin typeface="Bell MT" panose="02020503060305020303" pitchFamily="18" charset="0"/>
                <a:sym typeface="Wingdings" panose="05000000000000000000" pitchFamily="2" charset="2"/>
              </a:rPr>
              <a:t></a:t>
            </a:r>
            <a:r>
              <a:rPr lang="en-US" sz="2400" dirty="0">
                <a:latin typeface="Bell MT" panose="02020503060305020303" pitchFamily="18" charset="0"/>
              </a:rPr>
              <a:t>The proposed system is designed to detect errors in digital data during </a:t>
            </a:r>
            <a:r>
              <a:rPr lang="en-US" sz="2400" dirty="0" err="1">
                <a:latin typeface="Bell MT" panose="02020503060305020303" pitchFamily="18" charset="0"/>
              </a:rPr>
              <a:t>transmission.The</a:t>
            </a:r>
            <a:r>
              <a:rPr lang="en-US" sz="2400" dirty="0">
                <a:latin typeface="Bell MT" panose="02020503060305020303" pitchFamily="18" charset="0"/>
              </a:rPr>
              <a:t> system takes binary data from the sender and adds an error-detection code such as parity, checksum, or CRC. The data is then transmitted through a simulated communication channel. At the receiver, the data is checked to determine whether an error has occurred</a:t>
            </a:r>
            <a:r>
              <a:rPr lang="en-US" dirty="0">
                <a:latin typeface="Bell MT" panose="02020503060305020303" pitchFamily="18" charset="0"/>
              </a:rPr>
              <a:t>.</a:t>
            </a:r>
            <a:endParaRPr lang="en-IN" dirty="0">
              <a:latin typeface="Bell MT" panose="02020503060305020303" pitchFamily="18" charset="0"/>
            </a:endParaRPr>
          </a:p>
        </p:txBody>
      </p:sp>
      <p:sp>
        <p:nvSpPr>
          <p:cNvPr id="3" name="Rectangle: Rounded Corners 2">
            <a:extLst>
              <a:ext uri="{FF2B5EF4-FFF2-40B4-BE49-F238E27FC236}">
                <a16:creationId xmlns:a16="http://schemas.microsoft.com/office/drawing/2014/main" id="{5AE07455-6D11-5FD9-9484-CBF0DA04B075}"/>
              </a:ext>
            </a:extLst>
          </p:cNvPr>
          <p:cNvSpPr/>
          <p:nvPr/>
        </p:nvSpPr>
        <p:spPr>
          <a:xfrm>
            <a:off x="2722880" y="2590800"/>
            <a:ext cx="5963920" cy="2926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latin typeface="Bodoni MT" panose="02070603080606020203" pitchFamily="18" charset="0"/>
              </a:rPr>
              <a:t>Key features:-</a:t>
            </a:r>
          </a:p>
          <a:p>
            <a:r>
              <a:rPr lang="en-US" dirty="0"/>
              <a:t> </a:t>
            </a:r>
            <a:r>
              <a:rPr lang="en-US" sz="2000" dirty="0">
                <a:latin typeface="Bell MT" panose="02020503060305020303" pitchFamily="18" charset="0"/>
              </a:rPr>
              <a:t>Detects corrupted digital data.</a:t>
            </a:r>
          </a:p>
          <a:p>
            <a:pPr marL="285750" indent="-285750">
              <a:buFontTx/>
              <a:buChar char="-"/>
            </a:pPr>
            <a:r>
              <a:rPr lang="en-US" sz="2000" dirty="0">
                <a:latin typeface="Bell MT" panose="02020503060305020303" pitchFamily="18" charset="0"/>
              </a:rPr>
              <a:t>Simulates errors during transmission.</a:t>
            </a:r>
          </a:p>
          <a:p>
            <a:pPr marL="285750" indent="-285750">
              <a:buFontTx/>
              <a:buChar char="-"/>
            </a:pPr>
            <a:r>
              <a:rPr lang="en-US" sz="2000" dirty="0">
                <a:latin typeface="Bell MT" panose="02020503060305020303" pitchFamily="18" charset="0"/>
              </a:rPr>
              <a:t>- Compares transmitted and received data.</a:t>
            </a:r>
          </a:p>
          <a:p>
            <a:pPr marL="285750" indent="-285750">
              <a:buFontTx/>
              <a:buChar char="-"/>
            </a:pPr>
            <a:r>
              <a:rPr lang="en-US" sz="2000" dirty="0">
                <a:latin typeface="Bell MT" panose="02020503060305020303" pitchFamily="18" charset="0"/>
              </a:rPr>
              <a:t>- Displays “No Error” or “Error Detected.”</a:t>
            </a:r>
          </a:p>
          <a:p>
            <a:pPr marL="285750" indent="-285750">
              <a:buFontTx/>
              <a:buChar char="-"/>
            </a:pPr>
            <a:r>
              <a:rPr lang="en-US" sz="2000" dirty="0">
                <a:latin typeface="Bell MT" panose="02020503060305020303" pitchFamily="18" charset="0"/>
              </a:rPr>
              <a:t>- Can be tested without requiring physical hardware.</a:t>
            </a:r>
            <a:endParaRPr lang="en-IN" sz="2000" dirty="0">
              <a:latin typeface="Bell MT" panose="02020503060305020303" pitchFamily="18" charset="0"/>
            </a:endParaRPr>
          </a:p>
        </p:txBody>
      </p:sp>
      <p:sp>
        <p:nvSpPr>
          <p:cNvPr id="4" name="TextBox 3">
            <a:extLst>
              <a:ext uri="{FF2B5EF4-FFF2-40B4-BE49-F238E27FC236}">
                <a16:creationId xmlns:a16="http://schemas.microsoft.com/office/drawing/2014/main" id="{26E6716B-DB68-0ADD-F00B-F772B71CD22A}"/>
              </a:ext>
            </a:extLst>
          </p:cNvPr>
          <p:cNvSpPr txBox="1"/>
          <p:nvPr/>
        </p:nvSpPr>
        <p:spPr>
          <a:xfrm>
            <a:off x="447040" y="5679440"/>
            <a:ext cx="11409680" cy="830997"/>
          </a:xfrm>
          <a:prstGeom prst="rect">
            <a:avLst/>
          </a:prstGeom>
          <a:noFill/>
        </p:spPr>
        <p:txBody>
          <a:bodyPr wrap="square" rtlCol="0">
            <a:spAutoFit/>
          </a:bodyPr>
          <a:lstStyle/>
          <a:p>
            <a:pPr marL="342900" indent="-342900">
              <a:buFont typeface="Arial" panose="020B0604020202020204" pitchFamily="34" charset="0"/>
              <a:buChar char="•"/>
            </a:pPr>
            <a:r>
              <a:rPr lang="en-IN" sz="2400" dirty="0">
                <a:latin typeface="Bell MT" panose="02020503060305020303" pitchFamily="18" charset="0"/>
              </a:rPr>
              <a:t>Compared with simple error checking methods, the proposed system can use CRC for more reliable error detection, particularly for burst errors.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ECA56-9366-B0C2-FDEB-9A4CA2F13B6D}"/>
              </a:ext>
            </a:extLst>
          </p:cNvPr>
          <p:cNvSpPr>
            <a:spLocks noGrp="1"/>
          </p:cNvSpPr>
          <p:nvPr>
            <p:ph type="ctrTitle"/>
          </p:nvPr>
        </p:nvSpPr>
        <p:spPr>
          <a:xfrm>
            <a:off x="320039" y="1033272"/>
            <a:ext cx="6150209" cy="5495544"/>
          </a:xfrm>
        </p:spPr>
        <p:txBody>
          <a:bodyPr>
            <a:normAutofit/>
          </a:bodyPr>
          <a:lstStyle/>
          <a:p>
            <a:r>
              <a:rPr lang="en-US" sz="2400" b="1" dirty="0">
                <a:solidFill>
                  <a:srgbClr val="002060"/>
                </a:solidFill>
                <a:latin typeface="Bodoni MT" panose="02070603080606020203" pitchFamily="18" charset="0"/>
              </a:rPr>
              <a:t>Explanation:-</a:t>
            </a:r>
            <a:br>
              <a:rPr lang="en-US" sz="2400" dirty="0"/>
            </a:br>
            <a:br>
              <a:rPr lang="en-US" sz="2000" dirty="0"/>
            </a:br>
            <a:r>
              <a:rPr lang="en-US" sz="2000" dirty="0"/>
              <a:t> </a:t>
            </a:r>
            <a:r>
              <a:rPr lang="en-US" sz="2000" b="1" dirty="0">
                <a:latin typeface="Bodoni MT" panose="02070603080606020203" pitchFamily="18" charset="0"/>
              </a:rPr>
              <a:t>Input Data</a:t>
            </a:r>
            <a:r>
              <a:rPr lang="en-US" sz="2000" b="1" dirty="0"/>
              <a:t>:  </a:t>
            </a:r>
            <a:r>
              <a:rPr lang="en-US" sz="1800" dirty="0">
                <a:latin typeface="Bell MT" panose="02020503060305020303" pitchFamily="18" charset="0"/>
              </a:rPr>
              <a:t>Binary data such as 1011001 is entered</a:t>
            </a:r>
            <a:r>
              <a:rPr lang="en-US" sz="2000" dirty="0"/>
              <a:t>.</a:t>
            </a:r>
            <a:br>
              <a:rPr lang="en-US" sz="2000" dirty="0"/>
            </a:br>
            <a:br>
              <a:rPr lang="en-US" sz="2000" dirty="0"/>
            </a:br>
            <a:r>
              <a:rPr lang="en-US" sz="2000" dirty="0"/>
              <a:t> </a:t>
            </a:r>
            <a:r>
              <a:rPr lang="en-US" sz="2000" b="1" dirty="0">
                <a:latin typeface="Bodoni MT" panose="02070603080606020203" pitchFamily="18" charset="0"/>
              </a:rPr>
              <a:t>ENCODER</a:t>
            </a:r>
            <a:r>
              <a:rPr lang="en-US" sz="2000" dirty="0"/>
              <a:t>: </a:t>
            </a:r>
            <a:r>
              <a:rPr lang="en-US" sz="1800" dirty="0">
                <a:latin typeface="Bell MT" panose="02020503060305020303" pitchFamily="18" charset="0"/>
              </a:rPr>
              <a:t>Generates additional error-detection information</a:t>
            </a:r>
            <a:r>
              <a:rPr lang="en-US" sz="1800" b="1" dirty="0">
                <a:latin typeface="Bell MT" panose="02020503060305020303" pitchFamily="18" charset="0"/>
              </a:rPr>
              <a:t>.</a:t>
            </a:r>
            <a:br>
              <a:rPr lang="en-US" sz="1800" b="1" dirty="0">
                <a:latin typeface="Bell MT" panose="02020503060305020303" pitchFamily="18" charset="0"/>
              </a:rPr>
            </a:br>
            <a:br>
              <a:rPr lang="en-US" sz="1800" b="1" dirty="0">
                <a:latin typeface="Bell MT" panose="02020503060305020303" pitchFamily="18" charset="0"/>
              </a:rPr>
            </a:br>
            <a:r>
              <a:rPr lang="en-US" sz="2000" dirty="0"/>
              <a:t> </a:t>
            </a:r>
            <a:r>
              <a:rPr lang="en-US" sz="2000" b="1" dirty="0">
                <a:latin typeface="Bodoni MT" panose="02070603080606020203" pitchFamily="18" charset="0"/>
              </a:rPr>
              <a:t>Transmission</a:t>
            </a:r>
            <a:r>
              <a:rPr lang="en-US" sz="2000" dirty="0"/>
              <a:t> </a:t>
            </a:r>
            <a:r>
              <a:rPr lang="en-US" sz="2000" b="1" dirty="0">
                <a:latin typeface="Bodoni MT" panose="02070603080606020203" pitchFamily="18" charset="0"/>
              </a:rPr>
              <a:t>Channel</a:t>
            </a:r>
            <a:r>
              <a:rPr lang="en-US" sz="2000" dirty="0"/>
              <a:t>: </a:t>
            </a:r>
            <a:r>
              <a:rPr lang="en-US" sz="2000" dirty="0">
                <a:latin typeface="Bell MT" panose="02020503060305020303" pitchFamily="18" charset="0"/>
              </a:rPr>
              <a:t>Represents the path through which data travels.</a:t>
            </a:r>
            <a:br>
              <a:rPr lang="en-US" sz="2000" dirty="0">
                <a:latin typeface="Bell MT" panose="02020503060305020303" pitchFamily="18" charset="0"/>
              </a:rPr>
            </a:br>
            <a:br>
              <a:rPr lang="en-US" sz="2000" dirty="0"/>
            </a:br>
            <a:r>
              <a:rPr lang="en-US" sz="2000" dirty="0"/>
              <a:t> </a:t>
            </a:r>
            <a:r>
              <a:rPr lang="en-US" sz="2000" b="1" dirty="0">
                <a:latin typeface="Bodoni MT" panose="02070603080606020203" pitchFamily="18" charset="0"/>
              </a:rPr>
              <a:t>Error</a:t>
            </a:r>
            <a:r>
              <a:rPr lang="en-US" sz="2000" dirty="0"/>
              <a:t> </a:t>
            </a:r>
            <a:r>
              <a:rPr lang="en-US" sz="2000" b="1" dirty="0">
                <a:latin typeface="Bodoni MT" panose="02070603080606020203" pitchFamily="18" charset="0"/>
              </a:rPr>
              <a:t>Generator</a:t>
            </a:r>
            <a:r>
              <a:rPr lang="en-US" sz="2000" dirty="0"/>
              <a:t>: </a:t>
            </a:r>
            <a:r>
              <a:rPr lang="en-US" sz="1800" dirty="0">
                <a:latin typeface="Bell MT" panose="02020503060305020303" pitchFamily="18" charset="0"/>
              </a:rPr>
              <a:t>Changes one or more bits to simulate transmission errors.</a:t>
            </a:r>
            <a:br>
              <a:rPr lang="en-US" sz="1800" dirty="0">
                <a:latin typeface="Bell MT" panose="02020503060305020303" pitchFamily="18" charset="0"/>
              </a:rPr>
            </a:br>
            <a:br>
              <a:rPr lang="en-US" sz="2000" dirty="0"/>
            </a:br>
            <a:r>
              <a:rPr lang="en-US" sz="2000" b="1" dirty="0">
                <a:latin typeface="Bodoni MT" panose="02070603080606020203" pitchFamily="18" charset="0"/>
              </a:rPr>
              <a:t>DECODER:</a:t>
            </a:r>
            <a:r>
              <a:rPr lang="en-US" sz="2000" b="1" dirty="0"/>
              <a:t> </a:t>
            </a:r>
            <a:r>
              <a:rPr lang="en-US" sz="1800" dirty="0">
                <a:latin typeface="Bell MT" panose="02020503060305020303" pitchFamily="18" charset="0"/>
              </a:rPr>
              <a:t>Checks the received data.</a:t>
            </a:r>
            <a:br>
              <a:rPr lang="en-US" sz="1800" dirty="0">
                <a:latin typeface="Bell MT" panose="02020503060305020303" pitchFamily="18" charset="0"/>
              </a:rPr>
            </a:br>
            <a:br>
              <a:rPr lang="en-US" sz="1800" dirty="0">
                <a:latin typeface="Bell MT" panose="02020503060305020303" pitchFamily="18" charset="0"/>
              </a:rPr>
            </a:br>
            <a:r>
              <a:rPr lang="en-US" sz="2000" dirty="0"/>
              <a:t> </a:t>
            </a:r>
            <a:r>
              <a:rPr lang="en-US" sz="2000" b="1" dirty="0">
                <a:latin typeface="Bodoni MT" panose="02070603080606020203" pitchFamily="18" charset="0"/>
              </a:rPr>
              <a:t>Output</a:t>
            </a:r>
            <a:r>
              <a:rPr lang="en-US" sz="2000" dirty="0"/>
              <a:t>: </a:t>
            </a:r>
            <a:r>
              <a:rPr lang="en-US" sz="1800" dirty="0">
                <a:latin typeface="Bell MT" panose="02020503060305020303" pitchFamily="18" charset="0"/>
              </a:rPr>
              <a:t>Indicates whether the received data is correct or corrupted</a:t>
            </a:r>
            <a:r>
              <a:rPr lang="en-US" sz="1800" b="1" dirty="0">
                <a:latin typeface="Bell MT" panose="02020503060305020303" pitchFamily="18" charset="0"/>
              </a:rPr>
              <a:t>.</a:t>
            </a:r>
            <a:endParaRPr lang="en-IN" sz="1800" b="1" dirty="0">
              <a:latin typeface="Bell MT" panose="02020503060305020303" pitchFamily="18" charset="0"/>
            </a:endParaRPr>
          </a:p>
        </p:txBody>
      </p:sp>
      <p:pic>
        <p:nvPicPr>
          <p:cNvPr id="10" name="Picture Placeholder 9">
            <a:extLst>
              <a:ext uri="{FF2B5EF4-FFF2-40B4-BE49-F238E27FC236}">
                <a16:creationId xmlns:a16="http://schemas.microsoft.com/office/drawing/2014/main" id="{B7D9AB69-71E5-E5F8-E600-9991F5C8B3E3}"/>
              </a:ext>
            </a:extLst>
          </p:cNvPr>
          <p:cNvPicPr>
            <a:picLocks noGrp="1" noChangeAspect="1"/>
          </p:cNvPicPr>
          <p:nvPr>
            <p:ph type="pic" sz="quarter" idx="13"/>
          </p:nvPr>
        </p:nvPicPr>
        <p:blipFill>
          <a:blip r:embed="rId2"/>
          <a:srcRect t="11577" b="11577"/>
          <a:stretch>
            <a:fillRect/>
          </a:stretch>
        </p:blipFill>
        <p:spPr>
          <a:xfrm>
            <a:off x="6931152" y="0"/>
            <a:ext cx="5260848" cy="6857999"/>
          </a:xfrm>
          <a:prstGeom prst="rect">
            <a:avLst/>
          </a:prstGeom>
          <a:blipFill>
            <a:blip r:embed="rId3">
              <a:alphaModFix amt="80000"/>
            </a:blip>
            <a:stretch>
              <a:fillRect/>
            </a:stretch>
          </a:blipFill>
        </p:spPr>
      </p:pic>
    </p:spTree>
    <p:extLst>
      <p:ext uri="{BB962C8B-B14F-4D97-AF65-F5344CB8AC3E}">
        <p14:creationId xmlns:p14="http://schemas.microsoft.com/office/powerpoint/2010/main" val="845341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A8E9B-29BA-2E67-AC9D-7C68AE29A804}"/>
              </a:ext>
            </a:extLst>
          </p:cNvPr>
          <p:cNvSpPr>
            <a:spLocks noGrp="1"/>
          </p:cNvSpPr>
          <p:nvPr>
            <p:ph type="ctrTitle"/>
          </p:nvPr>
        </p:nvSpPr>
        <p:spPr>
          <a:xfrm>
            <a:off x="233330" y="3631552"/>
            <a:ext cx="11430000" cy="3411274"/>
          </a:xfrm>
        </p:spPr>
        <p:txBody>
          <a:bodyPr>
            <a:normAutofit/>
          </a:bodyPr>
          <a:lstStyle/>
          <a:p>
            <a:endParaRPr lang="en-IN" sz="2200" dirty="0"/>
          </a:p>
        </p:txBody>
      </p:sp>
      <p:sp>
        <p:nvSpPr>
          <p:cNvPr id="3" name="Subtitle 2">
            <a:extLst>
              <a:ext uri="{FF2B5EF4-FFF2-40B4-BE49-F238E27FC236}">
                <a16:creationId xmlns:a16="http://schemas.microsoft.com/office/drawing/2014/main" id="{D0EFFAC7-CF2F-5682-0E4C-D67AEFDFFE3F}"/>
              </a:ext>
            </a:extLst>
          </p:cNvPr>
          <p:cNvSpPr>
            <a:spLocks noGrp="1"/>
          </p:cNvSpPr>
          <p:nvPr>
            <p:ph type="subTitle" idx="1"/>
          </p:nvPr>
        </p:nvSpPr>
        <p:spPr>
          <a:xfrm>
            <a:off x="107732" y="5123793"/>
            <a:ext cx="11429999" cy="1435888"/>
          </a:xfrm>
        </p:spPr>
        <p:txBody>
          <a:bodyPr/>
          <a:lstStyle/>
          <a:p>
            <a:endParaRPr lang="en-US" dirty="0"/>
          </a:p>
        </p:txBody>
      </p:sp>
      <p:sp>
        <p:nvSpPr>
          <p:cNvPr id="8" name="TextBox 7">
            <a:extLst>
              <a:ext uri="{FF2B5EF4-FFF2-40B4-BE49-F238E27FC236}">
                <a16:creationId xmlns:a16="http://schemas.microsoft.com/office/drawing/2014/main" id="{F243419E-9B5E-5E0B-54B8-4ECCF32A1525}"/>
              </a:ext>
            </a:extLst>
          </p:cNvPr>
          <p:cNvSpPr txBox="1"/>
          <p:nvPr/>
        </p:nvSpPr>
        <p:spPr>
          <a:xfrm>
            <a:off x="173420" y="3801533"/>
            <a:ext cx="11430000" cy="2308324"/>
          </a:xfrm>
          <a:prstGeom prst="rect">
            <a:avLst/>
          </a:prstGeom>
          <a:noFill/>
        </p:spPr>
        <p:txBody>
          <a:bodyPr wrap="square" rtlCol="0">
            <a:spAutoFit/>
          </a:bodyPr>
          <a:lstStyle/>
          <a:p>
            <a:r>
              <a:rPr lang="en-US" b="1" dirty="0">
                <a:solidFill>
                  <a:srgbClr val="002060"/>
                </a:solidFill>
                <a:latin typeface="Bodoni MT" panose="02070603080606020203" pitchFamily="18" charset="0"/>
              </a:rPr>
              <a:t>Working Principle :</a:t>
            </a:r>
          </a:p>
          <a:p>
            <a:r>
              <a:rPr lang="en-US" dirty="0">
                <a:latin typeface="Bodoni MT" panose="02070603080606020203" pitchFamily="18" charset="0"/>
              </a:rPr>
              <a:t> </a:t>
            </a:r>
            <a:r>
              <a:rPr lang="en-US" b="1" dirty="0">
                <a:latin typeface="Bodoni MT" panose="02070603080606020203" pitchFamily="18" charset="0"/>
              </a:rPr>
              <a:t>Input Data </a:t>
            </a:r>
            <a:r>
              <a:rPr lang="en-US" dirty="0"/>
              <a:t>– </a:t>
            </a:r>
            <a:r>
              <a:rPr lang="en-US" dirty="0">
                <a:latin typeface="Bell MT" panose="02020503060305020303" pitchFamily="18" charset="0"/>
              </a:rPr>
              <a:t>Take the original digital data.</a:t>
            </a:r>
          </a:p>
          <a:p>
            <a:r>
              <a:rPr lang="en-US" b="1" dirty="0">
                <a:latin typeface="Bodoni MT" panose="02070603080606020203" pitchFamily="18" charset="0"/>
              </a:rPr>
              <a:t>Add Error Check Bits </a:t>
            </a:r>
            <a:r>
              <a:rPr lang="en-US" dirty="0">
                <a:latin typeface="Bell MT" panose="02020503060305020303" pitchFamily="18" charset="0"/>
              </a:rPr>
              <a:t>– Add extra bits using Parity or CRC.</a:t>
            </a:r>
          </a:p>
          <a:p>
            <a:r>
              <a:rPr lang="en-US" b="1" dirty="0">
                <a:latin typeface="Bodoni MT" panose="02070603080606020203" pitchFamily="18" charset="0"/>
              </a:rPr>
              <a:t>Transmit Data </a:t>
            </a:r>
            <a:r>
              <a:rPr lang="en-US" dirty="0">
                <a:latin typeface="Bell MT" panose="02020503060305020303" pitchFamily="18" charset="0"/>
              </a:rPr>
              <a:t>– Send the data through the communication channel.</a:t>
            </a:r>
          </a:p>
          <a:p>
            <a:r>
              <a:rPr lang="en-US" b="1" dirty="0">
                <a:latin typeface="Bodoni MT" panose="02070603080606020203" pitchFamily="18" charset="0"/>
              </a:rPr>
              <a:t>Noise May Cause Errors </a:t>
            </a:r>
            <a:r>
              <a:rPr lang="en-US" dirty="0">
                <a:latin typeface="Bell MT" panose="02020503060305020303" pitchFamily="18" charset="0"/>
              </a:rPr>
              <a:t>– Some bits may change during transmission.</a:t>
            </a:r>
          </a:p>
          <a:p>
            <a:r>
              <a:rPr lang="en-US" b="1" dirty="0">
                <a:latin typeface="Bodoni MT" panose="02070603080606020203" pitchFamily="18" charset="0"/>
              </a:rPr>
              <a:t>Check at Receiver</a:t>
            </a:r>
            <a:r>
              <a:rPr lang="en-US" dirty="0">
                <a:latin typeface="Bell MT" panose="02020503060305020303" pitchFamily="18" charset="0"/>
              </a:rPr>
              <a:t>– The receiver checks the received data.</a:t>
            </a:r>
          </a:p>
          <a:p>
            <a:r>
              <a:rPr lang="en-US" b="1" dirty="0">
                <a:latin typeface="Bodoni MT" panose="02070603080606020203" pitchFamily="18" charset="0"/>
              </a:rPr>
              <a:t>Detect Error </a:t>
            </a:r>
            <a:r>
              <a:rPr lang="en-US" dirty="0">
                <a:latin typeface="Bell MT" panose="02020503060305020303" pitchFamily="18" charset="0"/>
              </a:rPr>
              <a:t>– It determines whether the data has an error.</a:t>
            </a:r>
          </a:p>
          <a:p>
            <a:r>
              <a:rPr lang="en-US" b="1" dirty="0">
                <a:latin typeface="Bodoni MT" panose="02070603080606020203" pitchFamily="18" charset="0"/>
              </a:rPr>
              <a:t>Final Result </a:t>
            </a:r>
            <a:r>
              <a:rPr lang="en-US" dirty="0">
                <a:latin typeface="Bell MT" panose="02020503060305020303" pitchFamily="18" charset="0"/>
              </a:rPr>
              <a:t>–if there is no error, then data is </a:t>
            </a:r>
            <a:r>
              <a:rPr lang="en-US" dirty="0" err="1">
                <a:latin typeface="Bell MT" panose="02020503060305020303" pitchFamily="18" charset="0"/>
              </a:rPr>
              <a:t>accepted;otherwise</a:t>
            </a:r>
            <a:r>
              <a:rPr lang="en-US" dirty="0">
                <a:latin typeface="Bell MT" panose="02020503060305020303" pitchFamily="18" charset="0"/>
              </a:rPr>
              <a:t> an error is detected.</a:t>
            </a:r>
            <a:endParaRPr lang="en-IN" dirty="0">
              <a:latin typeface="Bell MT" panose="02020503060305020303" pitchFamily="18" charset="0"/>
            </a:endParaRPr>
          </a:p>
        </p:txBody>
      </p:sp>
      <p:pic>
        <p:nvPicPr>
          <p:cNvPr id="9" name="Picture Placeholder 8" descr="The image depicts a digital circuit diagram with an adder and a NOT gate, showing binary input and output values.&#10;&#10;AI-generated content may be incorrect.">
            <a:extLst>
              <a:ext uri="{FF2B5EF4-FFF2-40B4-BE49-F238E27FC236}">
                <a16:creationId xmlns:a16="http://schemas.microsoft.com/office/drawing/2014/main" id="{3A7C0BF1-7994-049D-9E45-8B6E7D6B3741}"/>
              </a:ext>
            </a:extLst>
          </p:cNvPr>
          <p:cNvPicPr>
            <a:picLocks noGrp="1" noChangeAspect="1"/>
          </p:cNvPicPr>
          <p:nvPr>
            <p:ph type="pic" sz="quarter" idx="13"/>
          </p:nvPr>
        </p:nvPicPr>
        <p:blipFill>
          <a:blip r:embed="rId2"/>
          <a:srcRect l="5777" r="5777"/>
          <a:stretch>
            <a:fillRect/>
          </a:stretch>
        </p:blipFill>
        <p:spPr>
          <a:xfrm>
            <a:off x="53195" y="67871"/>
            <a:ext cx="5895135" cy="3485213"/>
          </a:xfrm>
          <a:prstGeom prst="rect">
            <a:avLst/>
          </a:prstGeom>
          <a:blipFill>
            <a:blip r:embed="rId3">
              <a:alphaModFix amt="80000"/>
            </a:blip>
            <a:stretch>
              <a:fillRect/>
            </a:stretch>
          </a:blipFill>
        </p:spPr>
      </p:pic>
      <p:pic>
        <p:nvPicPr>
          <p:cNvPr id="13" name="Picture 12" descr="The diagram illustrates a digital circuit with various components including an adder, comparator, NOT gate, and outputs labeled with binary values.&#10;&#10;AI-generated content may be incorrect.">
            <a:extLst>
              <a:ext uri="{FF2B5EF4-FFF2-40B4-BE49-F238E27FC236}">
                <a16:creationId xmlns:a16="http://schemas.microsoft.com/office/drawing/2014/main" id="{4F55A359-3A31-FA5E-E24B-F38FB7E78578}"/>
              </a:ext>
            </a:extLst>
          </p:cNvPr>
          <p:cNvPicPr>
            <a:picLocks noChangeAspect="1"/>
          </p:cNvPicPr>
          <p:nvPr/>
        </p:nvPicPr>
        <p:blipFill>
          <a:blip r:embed="rId4"/>
          <a:stretch>
            <a:fillRect/>
          </a:stretch>
        </p:blipFill>
        <p:spPr>
          <a:xfrm>
            <a:off x="6243669" y="67871"/>
            <a:ext cx="5895136" cy="3411274"/>
          </a:xfrm>
          <a:prstGeom prst="rect">
            <a:avLst/>
          </a:prstGeom>
        </p:spPr>
      </p:pic>
    </p:spTree>
    <p:extLst>
      <p:ext uri="{BB962C8B-B14F-4D97-AF65-F5344CB8AC3E}">
        <p14:creationId xmlns:p14="http://schemas.microsoft.com/office/powerpoint/2010/main" val="1688459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Shape 148"/>
        <p:cNvGrpSpPr/>
        <p:nvPr/>
      </p:nvGrpSpPr>
      <p:grpSpPr>
        <a:xfrm>
          <a:off x="0" y="0"/>
          <a:ext cx="0" cy="0"/>
          <a:chOff x="0" y="0"/>
          <a:chExt cx="0" cy="0"/>
        </a:xfrm>
      </p:grpSpPr>
      <p:sp>
        <p:nvSpPr>
          <p:cNvPr id="149" name="Google Shape;149;p18"/>
          <p:cNvSpPr txBox="1"/>
          <p:nvPr/>
        </p:nvSpPr>
        <p:spPr>
          <a:xfrm>
            <a:off x="571500" y="476250"/>
            <a:ext cx="11601450"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dirty="0">
                <a:solidFill>
                  <a:srgbClr val="1E293B"/>
                </a:solidFill>
                <a:latin typeface="Bodoni MT" panose="02070603080606020203" pitchFamily="18" charset="0"/>
                <a:ea typeface="Poppins SemiBold"/>
                <a:cs typeface="Poppins SemiBold"/>
                <a:sym typeface="Poppins SemiBold"/>
              </a:rPr>
              <a:t>Detection Reliability:</a:t>
            </a:r>
            <a:endParaRPr b="1" dirty="0">
              <a:latin typeface="Bodoni MT" panose="02070603080606020203" pitchFamily="18" charset="0"/>
            </a:endParaRPr>
          </a:p>
        </p:txBody>
      </p:sp>
      <p:sp>
        <p:nvSpPr>
          <p:cNvPr id="150" name="Google Shape;150;p18"/>
          <p:cNvSpPr txBox="1"/>
          <p:nvPr/>
        </p:nvSpPr>
        <p:spPr>
          <a:xfrm>
            <a:off x="689741" y="719137"/>
            <a:ext cx="5334000" cy="104775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600" b="1" i="0" u="none" strike="noStrike" cap="none" dirty="0">
                <a:solidFill>
                  <a:srgbClr val="2563EB"/>
                </a:solidFill>
                <a:latin typeface="Poppins"/>
                <a:ea typeface="Poppins"/>
                <a:cs typeface="Poppins"/>
                <a:sym typeface="Poppins"/>
              </a:rPr>
              <a:t>99.9%</a:t>
            </a:r>
            <a:endParaRPr sz="6600" dirty="0"/>
          </a:p>
        </p:txBody>
      </p:sp>
      <p:sp>
        <p:nvSpPr>
          <p:cNvPr id="152" name="Google Shape;152;p18"/>
          <p:cNvSpPr txBox="1"/>
          <p:nvPr/>
        </p:nvSpPr>
        <p:spPr>
          <a:xfrm>
            <a:off x="689741" y="1821655"/>
            <a:ext cx="56007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002060"/>
                </a:solidFill>
                <a:latin typeface="Bodoni MT" panose="02070603080606020203" pitchFamily="18" charset="0"/>
                <a:ea typeface="Poppins SemiBold"/>
                <a:cs typeface="Poppins SemiBold"/>
                <a:sym typeface="Poppins SemiBold"/>
              </a:rPr>
              <a:t>High Accuracy Benchmark:</a:t>
            </a:r>
            <a:endParaRPr sz="2400" b="1" dirty="0">
              <a:solidFill>
                <a:srgbClr val="002060"/>
              </a:solidFill>
              <a:latin typeface="Bodoni MT" panose="02070603080606020203" pitchFamily="18" charset="0"/>
            </a:endParaRPr>
          </a:p>
        </p:txBody>
      </p:sp>
      <p:sp>
        <p:nvSpPr>
          <p:cNvPr id="153" name="Google Shape;153;p18"/>
          <p:cNvSpPr txBox="1"/>
          <p:nvPr/>
        </p:nvSpPr>
        <p:spPr>
          <a:xfrm>
            <a:off x="689741" y="2190748"/>
            <a:ext cx="9297714"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0" i="0" u="none" strike="noStrike" cap="none" dirty="0">
                <a:latin typeface="Bell MT" panose="02020503060305020303" pitchFamily="18" charset="0"/>
                <a:ea typeface="Inter"/>
                <a:cs typeface="Inter"/>
                <a:sym typeface="Inter"/>
              </a:rPr>
              <a:t>A standard CRC-8 configuration guarantees 100% detection for all single-bit errors, double-bit errors, odd-numbered bit errors, and burst errors up to 8 bits in length.</a:t>
            </a:r>
            <a:endParaRPr dirty="0">
              <a:latin typeface="Bell MT" panose="02020503060305020303" pitchFamily="18" charset="0"/>
            </a:endParaRPr>
          </a:p>
        </p:txBody>
      </p:sp>
      <p:sp>
        <p:nvSpPr>
          <p:cNvPr id="154" name="Google Shape;154;p18"/>
          <p:cNvSpPr txBox="1"/>
          <p:nvPr/>
        </p:nvSpPr>
        <p:spPr>
          <a:xfrm>
            <a:off x="689741" y="2929412"/>
            <a:ext cx="7894583"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0" i="0" u="none" strike="noStrike" cap="none" dirty="0">
                <a:latin typeface="Bell MT" panose="02020503060305020303" pitchFamily="18" charset="0"/>
                <a:ea typeface="Inter"/>
                <a:cs typeface="Inter"/>
                <a:sym typeface="Inter"/>
              </a:rPr>
              <a:t>This provides ultra-reliable validation for noisy communication lines with minimal transmission overhead.</a:t>
            </a:r>
            <a:endParaRPr dirty="0">
              <a:latin typeface="Bell MT" panose="02020503060305020303" pitchFamily="18" charset="0"/>
            </a:endParaRPr>
          </a:p>
        </p:txBody>
      </p:sp>
      <p:sp>
        <p:nvSpPr>
          <p:cNvPr id="2" name="TextBox 1">
            <a:extLst>
              <a:ext uri="{FF2B5EF4-FFF2-40B4-BE49-F238E27FC236}">
                <a16:creationId xmlns:a16="http://schemas.microsoft.com/office/drawing/2014/main" id="{B7A4356A-525A-4747-AF5C-18C96AE582BD}"/>
              </a:ext>
            </a:extLst>
          </p:cNvPr>
          <p:cNvSpPr txBox="1"/>
          <p:nvPr/>
        </p:nvSpPr>
        <p:spPr>
          <a:xfrm>
            <a:off x="571500" y="3689135"/>
            <a:ext cx="11601450" cy="1754326"/>
          </a:xfrm>
          <a:prstGeom prst="rect">
            <a:avLst/>
          </a:prstGeom>
          <a:noFill/>
        </p:spPr>
        <p:txBody>
          <a:bodyPr wrap="square" rtlCol="0">
            <a:spAutoFit/>
          </a:bodyPr>
          <a:lstStyle/>
          <a:p>
            <a:r>
              <a:rPr lang="en-US" dirty="0"/>
              <a:t>   </a:t>
            </a:r>
            <a:r>
              <a:rPr lang="en-US" sz="2800" b="1" dirty="0">
                <a:solidFill>
                  <a:srgbClr val="002060"/>
                </a:solidFill>
                <a:latin typeface="Bodoni MT" panose="02070603080606020203" pitchFamily="18" charset="0"/>
              </a:rPr>
              <a:t>Result:</a:t>
            </a:r>
          </a:p>
          <a:p>
            <a:r>
              <a:rPr lang="en-IN" sz="2000" dirty="0">
                <a:latin typeface="Bell MT" panose="02020503060305020303" pitchFamily="18" charset="0"/>
              </a:rPr>
              <a:t>The Digital Data Transmission Error Detection System was successfully designed and simulated. The system detects errors that may occur during digital data transmission using an error-detection technique such as parity checking. The simulation shows that the receiver can identify whether the received data is correct or contains an error. Thus, the system helps improve the reliability and accuracy of digital communication.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F48FC7-332C-F574-40E4-6694B7263CBC}"/>
              </a:ext>
            </a:extLst>
          </p:cNvPr>
          <p:cNvSpPr txBox="1"/>
          <p:nvPr/>
        </p:nvSpPr>
        <p:spPr>
          <a:xfrm>
            <a:off x="1269357" y="1481559"/>
            <a:ext cx="9653286" cy="738664"/>
          </a:xfrm>
          <a:prstGeom prst="rect">
            <a:avLst/>
          </a:prstGeom>
          <a:noFill/>
        </p:spPr>
        <p:txBody>
          <a:bodyPr wrap="square" rtlCol="0">
            <a:spAutoFit/>
          </a:bodyPr>
          <a:lstStyle/>
          <a:p>
            <a:endParaRPr lang="en-IN" dirty="0"/>
          </a:p>
          <a:p>
            <a:r>
              <a:rPr lang="en-IN" sz="2400" b="1" dirty="0">
                <a:latin typeface="Bodoni MT" panose="02070603080606020203" pitchFamily="18" charset="0"/>
              </a:rPr>
              <a:t>   </a:t>
            </a:r>
          </a:p>
        </p:txBody>
      </p:sp>
      <p:sp>
        <p:nvSpPr>
          <p:cNvPr id="8" name="Rectangle: Rounded Corners 7">
            <a:extLst>
              <a:ext uri="{FF2B5EF4-FFF2-40B4-BE49-F238E27FC236}">
                <a16:creationId xmlns:a16="http://schemas.microsoft.com/office/drawing/2014/main" id="{63286ED7-BEE4-28F5-564A-4A97C46C595A}"/>
              </a:ext>
            </a:extLst>
          </p:cNvPr>
          <p:cNvSpPr/>
          <p:nvPr/>
        </p:nvSpPr>
        <p:spPr>
          <a:xfrm>
            <a:off x="2110451" y="1365813"/>
            <a:ext cx="7971098" cy="42016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latin typeface="Bodoni MT" panose="02070603080606020203" pitchFamily="18" charset="0"/>
              </a:rPr>
              <a:t>CONCLUSION:</a:t>
            </a:r>
          </a:p>
          <a:p>
            <a:r>
              <a:rPr lang="en-US" sz="2000" b="1" dirty="0">
                <a:latin typeface="Bell MT" panose="02020503060305020303" pitchFamily="18" charset="0"/>
              </a:rPr>
              <a:t>The project successfully demonstrates how errors in digital data transmission can be detected using an error-detection </a:t>
            </a:r>
            <a:r>
              <a:rPr lang="en-US" sz="2000" b="1" dirty="0" err="1">
                <a:latin typeface="Bell MT" panose="02020503060305020303" pitchFamily="18" charset="0"/>
              </a:rPr>
              <a:t>system.The</a:t>
            </a:r>
            <a:r>
              <a:rPr lang="en-US" sz="2000" b="1" dirty="0">
                <a:latin typeface="Bell MT" panose="02020503060305020303" pitchFamily="18" charset="0"/>
              </a:rPr>
              <a:t> system accepts binary data, adds error-detection information, simulates transmission, and checks the received data for errors. The simulation shows that the system can correctly identify both error-free and corrupted data. Therefore, the project achieves its main objective of improving the reliability and accuracy of digital communication.</a:t>
            </a:r>
            <a:endParaRPr lang="en-IN" sz="2000" b="1" dirty="0">
              <a:latin typeface="Bell MT" panose="02020503060305020303" pitchFamily="18" charset="0"/>
            </a:endParaRPr>
          </a:p>
          <a:p>
            <a:endParaRPr lang="en-IN" dirty="0"/>
          </a:p>
        </p:txBody>
      </p:sp>
    </p:spTree>
    <p:extLst>
      <p:ext uri="{BB962C8B-B14F-4D97-AF65-F5344CB8AC3E}">
        <p14:creationId xmlns:p14="http://schemas.microsoft.com/office/powerpoint/2010/main" val="3278674083"/>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71EC1670-473B-4381-BA1C-B02CC96DD716}" vid="{C5D3EF77-ADD0-40FD-A769-C339DAE739D1}"/>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Editorial</Template>
  <TotalTime>628</TotalTime>
  <Words>984</Words>
  <Application>Microsoft Office PowerPoint</Application>
  <PresentationFormat>Widescreen</PresentationFormat>
  <Paragraphs>86</Paragraphs>
  <Slides>10</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Bodoni MT</vt:lpstr>
      <vt:lpstr>Trade Gothic Next Light</vt:lpstr>
      <vt:lpstr>Inter</vt:lpstr>
      <vt:lpstr>Arial</vt:lpstr>
      <vt:lpstr>Haettenschweiler</vt:lpstr>
      <vt:lpstr>Poppins</vt:lpstr>
      <vt:lpstr>Calibri</vt:lpstr>
      <vt:lpstr>Poppins SemiBold</vt:lpstr>
      <vt:lpstr>Bell MT</vt:lpstr>
      <vt:lpstr>Aptos</vt:lpstr>
      <vt:lpstr>Editorial</vt:lpstr>
      <vt:lpstr>PowerPoint Presentation</vt:lpstr>
      <vt:lpstr>PowerPoint Presentation</vt:lpstr>
      <vt:lpstr>PowerPoint Presentation</vt:lpstr>
      <vt:lpstr>PowerPoint Presentation</vt:lpstr>
      <vt:lpstr>PowerPoint Presentation</vt:lpstr>
      <vt:lpstr>PowerPoint Presentation</vt:lpstr>
      <vt:lpstr>Explanation:-   Input Data:  Binary data such as 1011001 is entered.   ENCODER: Generates additional error-detection information.   Transmission Channel: Represents the path through which data travels.   Error Generator: Changes one or more bits to simulate transmission errors.  DECODER: Checks the received data.   Output: Indicates whether the received data is correct or corrupted.</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Rachuri Raghuvansh Advik</cp:lastModifiedBy>
  <cp:revision>4</cp:revision>
  <dcterms:modified xsi:type="dcterms:W3CDTF">2026-09-12T06:12:04Z</dcterms:modified>
</cp:coreProperties>
</file>